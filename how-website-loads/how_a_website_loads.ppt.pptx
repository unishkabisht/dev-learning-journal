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2.png"/><Relationship Id="rId7" Type="http://schemas.openxmlformats.org/officeDocument/2006/relationships/image" Target="../media/image-3-7.png"/><Relationship Id="rId8" Type="http://schemas.openxmlformats.org/officeDocument/2006/relationships/image" Target="../media/image-3-2.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620"/>
        </a:solidFill>
      </p:bgPr>
    </p:bg>
    <p:spTree>
      <p:nvGrpSpPr>
        <p:cNvPr id="1" name=""/>
        <p:cNvGrpSpPr/>
        <p:nvPr/>
      </p:nvGrpSpPr>
      <p:grpSpPr>
        <a:xfrm>
          <a:off x="0" y="0"/>
          <a:ext cx="0" cy="0"/>
          <a:chOff x="0" y="0"/>
          <a:chExt cx="0" cy="0"/>
        </a:xfrm>
      </p:grpSpPr>
      <p:sp>
        <p:nvSpPr>
          <p:cNvPr id="2" name="Shape 0"/>
          <p:cNvSpPr/>
          <p:nvPr/>
        </p:nvSpPr>
        <p:spPr>
          <a:xfrm>
            <a:off x="9692640" y="-1097280"/>
            <a:ext cx="3291840" cy="3291840"/>
          </a:xfrm>
          <a:prstGeom prst="ellipse">
            <a:avLst/>
          </a:prstGeom>
          <a:solidFill>
            <a:srgbClr val="7A1F2B"/>
          </a:solidFill>
          <a:ln/>
        </p:spPr>
      </p:sp>
      <p:sp>
        <p:nvSpPr>
          <p:cNvPr id="3" name="Shape 1"/>
          <p:cNvSpPr/>
          <p:nvPr/>
        </p:nvSpPr>
        <p:spPr>
          <a:xfrm>
            <a:off x="10972800" y="1463040"/>
            <a:ext cx="1188720" cy="1188720"/>
          </a:xfrm>
          <a:prstGeom prst="ellipse">
            <a:avLst/>
          </a:prstGeom>
          <a:solidFill>
            <a:srgbClr val="C0603A"/>
          </a:solidFill>
          <a:ln/>
        </p:spPr>
      </p:sp>
      <p:sp>
        <p:nvSpPr>
          <p:cNvPr id="4" name="Shape 2"/>
          <p:cNvSpPr/>
          <p:nvPr/>
        </p:nvSpPr>
        <p:spPr>
          <a:xfrm>
            <a:off x="-731520" y="4937760"/>
            <a:ext cx="2377440" cy="2377440"/>
          </a:xfrm>
          <a:prstGeom prst="ellipse">
            <a:avLst/>
          </a:prstGeom>
          <a:solidFill>
            <a:srgbClr val="7A1F2B"/>
          </a:solidFill>
          <a:ln/>
        </p:spPr>
      </p:sp>
      <p:sp>
        <p:nvSpPr>
          <p:cNvPr id="5" name="Text 3"/>
          <p:cNvSpPr/>
          <p:nvPr/>
        </p:nvSpPr>
        <p:spPr>
          <a:xfrm>
            <a:off x="731520" y="1143000"/>
            <a:ext cx="10058400" cy="365760"/>
          </a:xfrm>
          <a:prstGeom prst="rect">
            <a:avLst/>
          </a:prstGeom>
          <a:noFill/>
          <a:ln/>
        </p:spPr>
        <p:txBody>
          <a:bodyPr wrap="square" lIns="0" tIns="0" rIns="0" bIns="0" rtlCol="0" anchor="ctr"/>
          <a:lstStyle/>
          <a:p>
            <a:pPr indent="0" marL="0">
              <a:buNone/>
            </a:pPr>
            <a:r>
              <a:rPr lang="en-US" sz="1500" b="1" spc="300" kern="0" dirty="0">
                <a:solidFill>
                  <a:srgbClr val="E0A93B"/>
                </a:solidFill>
                <a:latin typeface="Calibri" pitchFamily="34" charset="0"/>
                <a:ea typeface="Calibri" pitchFamily="34" charset="-122"/>
                <a:cs typeface="Calibri" pitchFamily="34" charset="-120"/>
              </a:rPr>
              <a:t>DAY 2  •  INTERNET &amp; WEB FUNDAMENTALS</a:t>
            </a:r>
            <a:endParaRPr lang="en-US" sz="1500" dirty="0"/>
          </a:p>
        </p:txBody>
      </p:sp>
      <p:sp>
        <p:nvSpPr>
          <p:cNvPr id="6" name="Text 4"/>
          <p:cNvSpPr/>
          <p:nvPr/>
        </p:nvSpPr>
        <p:spPr>
          <a:xfrm>
            <a:off x="713232" y="1645920"/>
            <a:ext cx="10515600" cy="868680"/>
          </a:xfrm>
          <a:prstGeom prst="rect">
            <a:avLst/>
          </a:prstGeom>
          <a:noFill/>
          <a:ln/>
        </p:spPr>
        <p:txBody>
          <a:bodyPr wrap="square" lIns="0" tIns="0" rIns="0" bIns="0" rtlCol="0" anchor="ctr"/>
          <a:lstStyle/>
          <a:p>
            <a:pPr indent="0" marL="0">
              <a:buNone/>
            </a:pPr>
            <a:r>
              <a:rPr lang="en-US" sz="5000" b="1" dirty="0">
                <a:solidFill>
                  <a:srgbClr val="FFFFFF"/>
                </a:solidFill>
                <a:latin typeface="Bookman Old Style" pitchFamily="34" charset="0"/>
                <a:ea typeface="Bookman Old Style" pitchFamily="34" charset="-122"/>
                <a:cs typeface="Bookman Old Style" pitchFamily="34" charset="-120"/>
              </a:rPr>
              <a:t>What really happens</a:t>
            </a:r>
            <a:endParaRPr lang="en-US" sz="5000" dirty="0"/>
          </a:p>
        </p:txBody>
      </p:sp>
      <p:sp>
        <p:nvSpPr>
          <p:cNvPr id="7" name="Text 5"/>
          <p:cNvSpPr/>
          <p:nvPr/>
        </p:nvSpPr>
        <p:spPr>
          <a:xfrm>
            <a:off x="713232" y="2468880"/>
            <a:ext cx="10515600" cy="868680"/>
          </a:xfrm>
          <a:prstGeom prst="rect">
            <a:avLst/>
          </a:prstGeom>
          <a:noFill/>
          <a:ln/>
        </p:spPr>
        <p:txBody>
          <a:bodyPr wrap="square" lIns="0" tIns="0" rIns="0" bIns="0" rtlCol="0" anchor="ctr"/>
          <a:lstStyle/>
          <a:p>
            <a:pPr indent="0" marL="0">
              <a:buNone/>
            </a:pPr>
            <a:r>
              <a:rPr lang="en-US" sz="5000" b="1" dirty="0">
                <a:solidFill>
                  <a:srgbClr val="FFFFFF"/>
                </a:solidFill>
                <a:latin typeface="Bookman Old Style" pitchFamily="34" charset="0"/>
                <a:ea typeface="Bookman Old Style" pitchFamily="34" charset="-122"/>
                <a:cs typeface="Bookman Old Style" pitchFamily="34" charset="-120"/>
              </a:rPr>
              <a:t>when you hit Enter</a:t>
            </a:r>
            <a:endParaRPr lang="en-US" sz="5000" dirty="0"/>
          </a:p>
        </p:txBody>
      </p:sp>
      <p:sp>
        <p:nvSpPr>
          <p:cNvPr id="8" name="Text 6"/>
          <p:cNvSpPr/>
          <p:nvPr/>
        </p:nvSpPr>
        <p:spPr>
          <a:xfrm>
            <a:off x="731520" y="3520440"/>
            <a:ext cx="9144000" cy="548640"/>
          </a:xfrm>
          <a:prstGeom prst="rect">
            <a:avLst/>
          </a:prstGeom>
          <a:noFill/>
          <a:ln/>
        </p:spPr>
        <p:txBody>
          <a:bodyPr wrap="square" lIns="0" tIns="0" rIns="0" bIns="0" rtlCol="0" anchor="ctr"/>
          <a:lstStyle/>
          <a:p>
            <a:pPr indent="0" marL="0">
              <a:buNone/>
            </a:pPr>
            <a:r>
              <a:rPr lang="en-US" sz="1900" i="1" dirty="0">
                <a:solidFill>
                  <a:srgbClr val="F0DCD0"/>
                </a:solidFill>
                <a:latin typeface="Calibri" pitchFamily="34" charset="0"/>
                <a:ea typeface="Calibri" pitchFamily="34" charset="-122"/>
                <a:cs typeface="Calibri" pitchFamily="34" charset="-120"/>
              </a:rPr>
              <a:t>You've used the web your whole life. Today we open the hood and see the machinery underneath.</a:t>
            </a:r>
            <a:endParaRPr lang="en-US" sz="1900" dirty="0"/>
          </a:p>
        </p:txBody>
      </p:sp>
      <p:sp>
        <p:nvSpPr>
          <p:cNvPr id="9" name="Shape 7"/>
          <p:cNvSpPr/>
          <p:nvPr/>
        </p:nvSpPr>
        <p:spPr>
          <a:xfrm>
            <a:off x="731520" y="4343400"/>
            <a:ext cx="6035040" cy="640080"/>
          </a:xfrm>
          <a:prstGeom prst="roundRect">
            <a:avLst>
              <a:gd name="adj" fmla="val 14286"/>
            </a:avLst>
          </a:prstGeom>
          <a:solidFill>
            <a:srgbClr val="2B2424"/>
          </a:solidFill>
          <a:ln/>
        </p:spPr>
      </p:sp>
      <p:pic>
        <p:nvPicPr>
          <p:cNvPr id="10" name="Image 0" descr="images/icon_lock.png">    </p:cNvPr>
          <p:cNvPicPr>
            <a:picLocks noChangeAspect="1"/>
          </p:cNvPicPr>
          <p:nvPr/>
        </p:nvPicPr>
        <p:blipFill>
          <a:blip r:embed="rId1"/>
          <a:stretch>
            <a:fillRect/>
          </a:stretch>
        </p:blipFill>
        <p:spPr>
          <a:xfrm>
            <a:off x="914400" y="4535424"/>
            <a:ext cx="256032" cy="256032"/>
          </a:xfrm>
          <a:prstGeom prst="rect">
            <a:avLst/>
          </a:prstGeom>
        </p:spPr>
      </p:pic>
      <p:sp>
        <p:nvSpPr>
          <p:cNvPr id="11" name="Text 8"/>
          <p:cNvSpPr/>
          <p:nvPr/>
        </p:nvSpPr>
        <p:spPr>
          <a:xfrm>
            <a:off x="1325880" y="4343400"/>
            <a:ext cx="5303520" cy="640080"/>
          </a:xfrm>
          <a:prstGeom prst="rect">
            <a:avLst/>
          </a:prstGeom>
          <a:noFill/>
          <a:ln/>
        </p:spPr>
        <p:txBody>
          <a:bodyPr wrap="square" lIns="0" tIns="0" rIns="0" bIns="0" rtlCol="0" anchor="ctr"/>
          <a:lstStyle/>
          <a:p>
            <a:pPr indent="0" marL="0">
              <a:buNone/>
            </a:pPr>
            <a:r>
              <a:rPr lang="en-US" sz="1800" dirty="0">
                <a:solidFill>
                  <a:srgbClr val="9FE0A8"/>
                </a:solidFill>
                <a:latin typeface="Courier New" pitchFamily="34" charset="0"/>
                <a:ea typeface="Courier New" pitchFamily="34" charset="-122"/>
                <a:cs typeface="Courier New" pitchFamily="34" charset="-120"/>
              </a:rPr>
              <a:t>https://shorterloop.com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5C1620"/>
          </a:solidFill>
          <a:ln/>
        </p:spPr>
      </p:sp>
      <p:sp>
        <p:nvSpPr>
          <p:cNvPr id="3" name="Shape 1"/>
          <p:cNvSpPr/>
          <p:nvPr/>
        </p:nvSpPr>
        <p:spPr>
          <a:xfrm>
            <a:off x="3383280" y="-1188720"/>
            <a:ext cx="1828800" cy="1828800"/>
          </a:xfrm>
          <a:prstGeom prst="ellipse">
            <a:avLst/>
          </a:prstGeom>
          <a:solidFill>
            <a:srgbClr val="7A1F2B"/>
          </a:solidFill>
          <a:ln/>
        </p:spPr>
      </p:sp>
      <p:sp>
        <p:nvSpPr>
          <p:cNvPr id="4" name="Text 2"/>
          <p:cNvSpPr/>
          <p:nvPr/>
        </p:nvSpPr>
        <p:spPr>
          <a:xfrm>
            <a:off x="502920" y="1463040"/>
            <a:ext cx="3657600" cy="365760"/>
          </a:xfrm>
          <a:prstGeom prst="rect">
            <a:avLst/>
          </a:prstGeom>
          <a:noFill/>
          <a:ln/>
        </p:spPr>
        <p:txBody>
          <a:bodyPr wrap="square" lIns="0" tIns="0" rIns="0" bIns="0" rtlCol="0" anchor="ctr"/>
          <a:lstStyle/>
          <a:p>
            <a:pPr indent="0" marL="0">
              <a:buNone/>
            </a:pPr>
            <a:r>
              <a:rPr lang="en-US" sz="1300" b="1" spc="200" kern="0" dirty="0">
                <a:solidFill>
                  <a:srgbClr val="E0A93B"/>
                </a:solidFill>
                <a:latin typeface="Calibri" pitchFamily="34" charset="0"/>
                <a:ea typeface="Calibri" pitchFamily="34" charset="-122"/>
                <a:cs typeface="Calibri" pitchFamily="34" charset="-120"/>
              </a:rPr>
              <a:t>A SIMPLE QUESTION</a:t>
            </a:r>
            <a:endParaRPr lang="en-US" sz="1300" dirty="0"/>
          </a:p>
        </p:txBody>
      </p:sp>
      <p:sp>
        <p:nvSpPr>
          <p:cNvPr id="5" name="Text 3"/>
          <p:cNvSpPr/>
          <p:nvPr/>
        </p:nvSpPr>
        <p:spPr>
          <a:xfrm>
            <a:off x="502920" y="1874520"/>
            <a:ext cx="3657600" cy="1828800"/>
          </a:xfrm>
          <a:prstGeom prst="rect">
            <a:avLst/>
          </a:prstGeom>
          <a:noFill/>
          <a:ln/>
        </p:spPr>
        <p:txBody>
          <a:bodyPr wrap="square" lIns="0" tIns="0" rIns="0" bIns="0" rtlCol="0" anchor="ctr"/>
          <a:lstStyle/>
          <a:p>
            <a:pPr indent="0" marL="0">
              <a:lnSpc>
                <a:spcPct val="110000"/>
              </a:lnSpc>
              <a:buNone/>
            </a:pPr>
            <a:r>
              <a:rPr lang="en-US" sz="2600" b="1" dirty="0">
                <a:solidFill>
                  <a:srgbClr val="FFFFFF"/>
                </a:solidFill>
                <a:latin typeface="Bookman Old Style" pitchFamily="34" charset="0"/>
                <a:ea typeface="Bookman Old Style" pitchFamily="34" charset="-122"/>
                <a:cs typeface="Bookman Old Style" pitchFamily="34" charset="-120"/>
              </a:rPr>
              <a:t>You type a web address and press Enter.</a:t>
            </a:r>
            <a:endParaRPr lang="en-US" sz="2600" dirty="0"/>
          </a:p>
          <a:p>
            <a:pPr indent="0" marL="0">
              <a:lnSpc>
                <a:spcPct val="110000"/>
              </a:lnSpc>
              <a:buNone/>
            </a:pPr>
            <a:endParaRPr lang="en-US" sz="2600" dirty="0"/>
          </a:p>
          <a:p>
            <a:pPr indent="0" marL="0">
              <a:lnSpc>
                <a:spcPct val="110000"/>
              </a:lnSpc>
              <a:buNone/>
            </a:pPr>
            <a:r>
              <a:rPr lang="en-US" sz="2600" b="1" dirty="0">
                <a:solidFill>
                  <a:srgbClr val="FFFFFF"/>
                </a:solidFill>
                <a:latin typeface="Bookman Old Style" pitchFamily="34" charset="0"/>
                <a:ea typeface="Bookman Old Style" pitchFamily="34" charset="-122"/>
                <a:cs typeface="Bookman Old Style" pitchFamily="34" charset="-120"/>
              </a:rPr>
              <a:t>It feels instant.</a:t>
            </a:r>
            <a:endParaRPr lang="en-US" sz="2600" dirty="0"/>
          </a:p>
        </p:txBody>
      </p:sp>
      <p:sp>
        <p:nvSpPr>
          <p:cNvPr id="6" name="Text 4"/>
          <p:cNvSpPr/>
          <p:nvPr/>
        </p:nvSpPr>
        <p:spPr>
          <a:xfrm>
            <a:off x="502920" y="4023360"/>
            <a:ext cx="3657600" cy="914400"/>
          </a:xfrm>
          <a:prstGeom prst="rect">
            <a:avLst/>
          </a:prstGeom>
          <a:noFill/>
          <a:ln/>
        </p:spPr>
        <p:txBody>
          <a:bodyPr wrap="square" lIns="0" tIns="0" rIns="0" bIns="0" rtlCol="0" anchor="ctr"/>
          <a:lstStyle/>
          <a:p>
            <a:pPr indent="0" marL="0">
              <a:buNone/>
            </a:pPr>
            <a:r>
              <a:rPr lang="en-US" sz="1600" i="1" dirty="0">
                <a:solidFill>
                  <a:srgbClr val="F0DCD0"/>
                </a:solidFill>
                <a:latin typeface="Calibri" pitchFamily="34" charset="0"/>
                <a:ea typeface="Calibri" pitchFamily="34" charset="-122"/>
                <a:cs typeface="Calibri" pitchFamily="34" charset="-120"/>
              </a:rPr>
              <a:t>But “instant” is a lie. A lot just happened.</a:t>
            </a:r>
            <a:endParaRPr lang="en-US" sz="1600" dirty="0"/>
          </a:p>
        </p:txBody>
      </p:sp>
      <p:sp>
        <p:nvSpPr>
          <p:cNvPr id="7" name="Text 5"/>
          <p:cNvSpPr/>
          <p:nvPr/>
        </p:nvSpPr>
        <p:spPr>
          <a:xfrm>
            <a:off x="5029200" y="822960"/>
            <a:ext cx="6583680" cy="457200"/>
          </a:xfrm>
          <a:prstGeom prst="rect">
            <a:avLst/>
          </a:prstGeom>
          <a:noFill/>
          <a:ln/>
        </p:spPr>
        <p:txBody>
          <a:bodyPr wrap="square" lIns="0" tIns="0" rIns="0" bIns="0" rtlCol="0" anchor="ctr"/>
          <a:lstStyle/>
          <a:p>
            <a:pPr indent="0" marL="0">
              <a:buNone/>
            </a:pPr>
            <a:r>
              <a:rPr lang="en-US" sz="2200" b="1" dirty="0">
                <a:solidFill>
                  <a:srgbClr val="5C1620"/>
                </a:solidFill>
                <a:latin typeface="Bookman Old Style" pitchFamily="34" charset="0"/>
                <a:ea typeface="Bookman Old Style" pitchFamily="34" charset="-122"/>
                <a:cs typeface="Bookman Old Style" pitchFamily="34" charset="-120"/>
              </a:rPr>
              <a:t>In that half-second, your computer:</a:t>
            </a:r>
            <a:endParaRPr lang="en-US" sz="2200" dirty="0"/>
          </a:p>
        </p:txBody>
      </p:sp>
      <p:sp>
        <p:nvSpPr>
          <p:cNvPr id="8" name="Shape 6"/>
          <p:cNvSpPr/>
          <p:nvPr/>
        </p:nvSpPr>
        <p:spPr>
          <a:xfrm>
            <a:off x="5029200" y="1554480"/>
            <a:ext cx="566928" cy="566928"/>
          </a:xfrm>
          <a:prstGeom prst="ellipse">
            <a:avLst/>
          </a:prstGeom>
          <a:solidFill>
            <a:srgbClr val="F7F3EE"/>
          </a:solidFill>
          <a:ln w="19050">
            <a:solidFill>
              <a:srgbClr val="C0603A"/>
            </a:solidFill>
            <a:prstDash val="solid"/>
          </a:ln>
        </p:spPr>
      </p:sp>
      <p:pic>
        <p:nvPicPr>
          <p:cNvPr id="9" name="Image 0" descr="images/icon_search_m.png">    </p:cNvPr>
          <p:cNvPicPr>
            <a:picLocks noChangeAspect="1"/>
          </p:cNvPicPr>
          <p:nvPr/>
        </p:nvPicPr>
        <p:blipFill>
          <a:blip r:embed="rId1"/>
          <a:stretch>
            <a:fillRect/>
          </a:stretch>
        </p:blipFill>
        <p:spPr>
          <a:xfrm>
            <a:off x="5157216" y="1682496"/>
            <a:ext cx="310896" cy="310896"/>
          </a:xfrm>
          <a:prstGeom prst="rect">
            <a:avLst/>
          </a:prstGeom>
        </p:spPr>
      </p:pic>
      <p:sp>
        <p:nvSpPr>
          <p:cNvPr id="10" name="Text 7"/>
          <p:cNvSpPr/>
          <p:nvPr/>
        </p:nvSpPr>
        <p:spPr>
          <a:xfrm>
            <a:off x="5806440" y="1536192"/>
            <a:ext cx="5943600" cy="347472"/>
          </a:xfrm>
          <a:prstGeom prst="rect">
            <a:avLst/>
          </a:prstGeom>
          <a:noFill/>
          <a:ln/>
        </p:spPr>
        <p:txBody>
          <a:bodyPr wrap="square" lIns="0" tIns="0" rIns="0" bIns="0" rtlCol="0" anchor="ctr"/>
          <a:lstStyle/>
          <a:p>
            <a:pPr indent="0" marL="0">
              <a:buNone/>
            </a:pPr>
            <a:r>
              <a:rPr lang="en-US" sz="1600" b="1" dirty="0">
                <a:solidFill>
                  <a:srgbClr val="201A1B"/>
                </a:solidFill>
                <a:latin typeface="Calibri" pitchFamily="34" charset="0"/>
                <a:ea typeface="Calibri" pitchFamily="34" charset="-122"/>
                <a:cs typeface="Calibri" pitchFamily="34" charset="-120"/>
              </a:rPr>
              <a:t>Looked up an address</a:t>
            </a:r>
            <a:endParaRPr lang="en-US" sz="1600" dirty="0"/>
          </a:p>
        </p:txBody>
      </p:sp>
      <p:sp>
        <p:nvSpPr>
          <p:cNvPr id="11" name="Text 8"/>
          <p:cNvSpPr/>
          <p:nvPr/>
        </p:nvSpPr>
        <p:spPr>
          <a:xfrm>
            <a:off x="5806440" y="1865376"/>
            <a:ext cx="5943600" cy="41148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Turned the name shorterloop.com into a real numeric IP address.</a:t>
            </a:r>
            <a:endParaRPr lang="en-US" sz="1250" dirty="0"/>
          </a:p>
        </p:txBody>
      </p:sp>
      <p:sp>
        <p:nvSpPr>
          <p:cNvPr id="12" name="Shape 9"/>
          <p:cNvSpPr/>
          <p:nvPr/>
        </p:nvSpPr>
        <p:spPr>
          <a:xfrm>
            <a:off x="5029200" y="2441448"/>
            <a:ext cx="566928" cy="566928"/>
          </a:xfrm>
          <a:prstGeom prst="ellipse">
            <a:avLst/>
          </a:prstGeom>
          <a:solidFill>
            <a:srgbClr val="F7F3EE"/>
          </a:solidFill>
          <a:ln w="19050">
            <a:solidFill>
              <a:srgbClr val="C0603A"/>
            </a:solidFill>
            <a:prstDash val="solid"/>
          </a:ln>
        </p:spPr>
      </p:sp>
      <p:pic>
        <p:nvPicPr>
          <p:cNvPr id="13" name="Image 1" descr="images/icon_network_m.png">    </p:cNvPr>
          <p:cNvPicPr>
            <a:picLocks noChangeAspect="1"/>
          </p:cNvPicPr>
          <p:nvPr/>
        </p:nvPicPr>
        <p:blipFill>
          <a:blip r:embed="rId2"/>
          <a:stretch>
            <a:fillRect/>
          </a:stretch>
        </p:blipFill>
        <p:spPr>
          <a:xfrm>
            <a:off x="5157216" y="2569464"/>
            <a:ext cx="310896" cy="310896"/>
          </a:xfrm>
          <a:prstGeom prst="rect">
            <a:avLst/>
          </a:prstGeom>
        </p:spPr>
      </p:pic>
      <p:sp>
        <p:nvSpPr>
          <p:cNvPr id="14" name="Text 10"/>
          <p:cNvSpPr/>
          <p:nvPr/>
        </p:nvSpPr>
        <p:spPr>
          <a:xfrm>
            <a:off x="5806440" y="2423160"/>
            <a:ext cx="5943600" cy="347472"/>
          </a:xfrm>
          <a:prstGeom prst="rect">
            <a:avLst/>
          </a:prstGeom>
          <a:noFill/>
          <a:ln/>
        </p:spPr>
        <p:txBody>
          <a:bodyPr wrap="square" lIns="0" tIns="0" rIns="0" bIns="0" rtlCol="0" anchor="ctr"/>
          <a:lstStyle/>
          <a:p>
            <a:pPr indent="0" marL="0">
              <a:buNone/>
            </a:pPr>
            <a:r>
              <a:rPr lang="en-US" sz="1600" b="1" dirty="0">
                <a:solidFill>
                  <a:srgbClr val="201A1B"/>
                </a:solidFill>
                <a:latin typeface="Calibri" pitchFamily="34" charset="0"/>
                <a:ea typeface="Calibri" pitchFamily="34" charset="-122"/>
                <a:cs typeface="Calibri" pitchFamily="34" charset="-120"/>
              </a:rPr>
              <a:t>Opened a connection</a:t>
            </a:r>
            <a:endParaRPr lang="en-US" sz="1600" dirty="0"/>
          </a:p>
        </p:txBody>
      </p:sp>
      <p:sp>
        <p:nvSpPr>
          <p:cNvPr id="15" name="Text 11"/>
          <p:cNvSpPr/>
          <p:nvPr/>
        </p:nvSpPr>
        <p:spPr>
          <a:xfrm>
            <a:off x="5806440" y="2752344"/>
            <a:ext cx="5943600" cy="41148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Found the server across the world and agreed on how to talk.</a:t>
            </a:r>
            <a:endParaRPr lang="en-US" sz="1250" dirty="0"/>
          </a:p>
        </p:txBody>
      </p:sp>
      <p:sp>
        <p:nvSpPr>
          <p:cNvPr id="16" name="Shape 12"/>
          <p:cNvSpPr/>
          <p:nvPr/>
        </p:nvSpPr>
        <p:spPr>
          <a:xfrm>
            <a:off x="5029200" y="3328416"/>
            <a:ext cx="566928" cy="566928"/>
          </a:xfrm>
          <a:prstGeom prst="ellipse">
            <a:avLst/>
          </a:prstGeom>
          <a:solidFill>
            <a:srgbClr val="F7F3EE"/>
          </a:solidFill>
          <a:ln w="19050">
            <a:solidFill>
              <a:srgbClr val="C0603A"/>
            </a:solidFill>
            <a:prstDash val="solid"/>
          </a:ln>
        </p:spPr>
      </p:sp>
      <p:pic>
        <p:nvPicPr>
          <p:cNvPr id="17" name="Image 2" descr="images/icon_lock_m.png">    </p:cNvPr>
          <p:cNvPicPr>
            <a:picLocks noChangeAspect="1"/>
          </p:cNvPicPr>
          <p:nvPr/>
        </p:nvPicPr>
        <p:blipFill>
          <a:blip r:embed="rId3"/>
          <a:stretch>
            <a:fillRect/>
          </a:stretch>
        </p:blipFill>
        <p:spPr>
          <a:xfrm>
            <a:off x="5157216" y="3456432"/>
            <a:ext cx="310896" cy="310896"/>
          </a:xfrm>
          <a:prstGeom prst="rect">
            <a:avLst/>
          </a:prstGeom>
        </p:spPr>
      </p:pic>
      <p:sp>
        <p:nvSpPr>
          <p:cNvPr id="18" name="Text 13"/>
          <p:cNvSpPr/>
          <p:nvPr/>
        </p:nvSpPr>
        <p:spPr>
          <a:xfrm>
            <a:off x="5806440" y="3310128"/>
            <a:ext cx="5943600" cy="347472"/>
          </a:xfrm>
          <a:prstGeom prst="rect">
            <a:avLst/>
          </a:prstGeom>
          <a:noFill/>
          <a:ln/>
        </p:spPr>
        <p:txBody>
          <a:bodyPr wrap="square" lIns="0" tIns="0" rIns="0" bIns="0" rtlCol="0" anchor="ctr"/>
          <a:lstStyle/>
          <a:p>
            <a:pPr indent="0" marL="0">
              <a:buNone/>
            </a:pPr>
            <a:r>
              <a:rPr lang="en-US" sz="1600" b="1" dirty="0">
                <a:solidFill>
                  <a:srgbClr val="201A1B"/>
                </a:solidFill>
                <a:latin typeface="Calibri" pitchFamily="34" charset="0"/>
                <a:ea typeface="Calibri" pitchFamily="34" charset="-122"/>
                <a:cs typeface="Calibri" pitchFamily="34" charset="-120"/>
              </a:rPr>
              <a:t>Locked it down</a:t>
            </a:r>
            <a:endParaRPr lang="en-US" sz="1600" dirty="0"/>
          </a:p>
        </p:txBody>
      </p:sp>
      <p:sp>
        <p:nvSpPr>
          <p:cNvPr id="19" name="Text 14"/>
          <p:cNvSpPr/>
          <p:nvPr/>
        </p:nvSpPr>
        <p:spPr>
          <a:xfrm>
            <a:off x="5806440" y="3639312"/>
            <a:ext cx="5943600" cy="41148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Set up encryption so nobody in between can read your data.</a:t>
            </a:r>
            <a:endParaRPr lang="en-US" sz="1250" dirty="0"/>
          </a:p>
        </p:txBody>
      </p:sp>
      <p:sp>
        <p:nvSpPr>
          <p:cNvPr id="20" name="Shape 15"/>
          <p:cNvSpPr/>
          <p:nvPr/>
        </p:nvSpPr>
        <p:spPr>
          <a:xfrm>
            <a:off x="5029200" y="4215384"/>
            <a:ext cx="566928" cy="566928"/>
          </a:xfrm>
          <a:prstGeom prst="ellipse">
            <a:avLst/>
          </a:prstGeom>
          <a:solidFill>
            <a:srgbClr val="F7F3EE"/>
          </a:solidFill>
          <a:ln w="19050">
            <a:solidFill>
              <a:srgbClr val="C0603A"/>
            </a:solidFill>
            <a:prstDash val="solid"/>
          </a:ln>
        </p:spPr>
      </p:sp>
      <p:pic>
        <p:nvPicPr>
          <p:cNvPr id="21" name="Image 3" descr="images/icon_exchange_m.png">    </p:cNvPr>
          <p:cNvPicPr>
            <a:picLocks noChangeAspect="1"/>
          </p:cNvPicPr>
          <p:nvPr/>
        </p:nvPicPr>
        <p:blipFill>
          <a:blip r:embed="rId4"/>
          <a:stretch>
            <a:fillRect/>
          </a:stretch>
        </p:blipFill>
        <p:spPr>
          <a:xfrm>
            <a:off x="5157216" y="4343400"/>
            <a:ext cx="310896" cy="310896"/>
          </a:xfrm>
          <a:prstGeom prst="rect">
            <a:avLst/>
          </a:prstGeom>
        </p:spPr>
      </p:pic>
      <p:sp>
        <p:nvSpPr>
          <p:cNvPr id="22" name="Text 16"/>
          <p:cNvSpPr/>
          <p:nvPr/>
        </p:nvSpPr>
        <p:spPr>
          <a:xfrm>
            <a:off x="5806440" y="4197096"/>
            <a:ext cx="5943600" cy="347472"/>
          </a:xfrm>
          <a:prstGeom prst="rect">
            <a:avLst/>
          </a:prstGeom>
          <a:noFill/>
          <a:ln/>
        </p:spPr>
        <p:txBody>
          <a:bodyPr wrap="square" lIns="0" tIns="0" rIns="0" bIns="0" rtlCol="0" anchor="ctr"/>
          <a:lstStyle/>
          <a:p>
            <a:pPr indent="0" marL="0">
              <a:buNone/>
            </a:pPr>
            <a:r>
              <a:rPr lang="en-US" sz="1600" b="1" dirty="0">
                <a:solidFill>
                  <a:srgbClr val="201A1B"/>
                </a:solidFill>
                <a:latin typeface="Calibri" pitchFamily="34" charset="0"/>
                <a:ea typeface="Calibri" pitchFamily="34" charset="-122"/>
                <a:cs typeface="Calibri" pitchFamily="34" charset="-120"/>
              </a:rPr>
              <a:t>Asked and received</a:t>
            </a:r>
            <a:endParaRPr lang="en-US" sz="1600" dirty="0"/>
          </a:p>
        </p:txBody>
      </p:sp>
      <p:sp>
        <p:nvSpPr>
          <p:cNvPr id="23" name="Text 17"/>
          <p:cNvSpPr/>
          <p:nvPr/>
        </p:nvSpPr>
        <p:spPr>
          <a:xfrm>
            <a:off x="5806440" y="4526280"/>
            <a:ext cx="5943600" cy="41148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Sent a request, got back HTML, CSS, JavaScript, images.</a:t>
            </a:r>
            <a:endParaRPr lang="en-US" sz="1250" dirty="0"/>
          </a:p>
        </p:txBody>
      </p:sp>
      <p:sp>
        <p:nvSpPr>
          <p:cNvPr id="24" name="Shape 18"/>
          <p:cNvSpPr/>
          <p:nvPr/>
        </p:nvSpPr>
        <p:spPr>
          <a:xfrm>
            <a:off x="5029200" y="5102352"/>
            <a:ext cx="566928" cy="566928"/>
          </a:xfrm>
          <a:prstGeom prst="ellipse">
            <a:avLst/>
          </a:prstGeom>
          <a:solidFill>
            <a:srgbClr val="F7F3EE"/>
          </a:solidFill>
          <a:ln w="19050">
            <a:solidFill>
              <a:srgbClr val="C0603A"/>
            </a:solidFill>
            <a:prstDash val="solid"/>
          </a:ln>
        </p:spPr>
      </p:sp>
      <p:pic>
        <p:nvPicPr>
          <p:cNvPr id="25" name="Image 4" descr="images/icon_paint_m.png">    </p:cNvPr>
          <p:cNvPicPr>
            <a:picLocks noChangeAspect="1"/>
          </p:cNvPicPr>
          <p:nvPr/>
        </p:nvPicPr>
        <p:blipFill>
          <a:blip r:embed="rId5"/>
          <a:stretch>
            <a:fillRect/>
          </a:stretch>
        </p:blipFill>
        <p:spPr>
          <a:xfrm>
            <a:off x="5157216" y="5230368"/>
            <a:ext cx="310896" cy="310896"/>
          </a:xfrm>
          <a:prstGeom prst="rect">
            <a:avLst/>
          </a:prstGeom>
        </p:spPr>
      </p:pic>
      <p:sp>
        <p:nvSpPr>
          <p:cNvPr id="26" name="Text 19"/>
          <p:cNvSpPr/>
          <p:nvPr/>
        </p:nvSpPr>
        <p:spPr>
          <a:xfrm>
            <a:off x="5806440" y="5084064"/>
            <a:ext cx="5943600" cy="347472"/>
          </a:xfrm>
          <a:prstGeom prst="rect">
            <a:avLst/>
          </a:prstGeom>
          <a:noFill/>
          <a:ln/>
        </p:spPr>
        <p:txBody>
          <a:bodyPr wrap="square" lIns="0" tIns="0" rIns="0" bIns="0" rtlCol="0" anchor="ctr"/>
          <a:lstStyle/>
          <a:p>
            <a:pPr indent="0" marL="0">
              <a:buNone/>
            </a:pPr>
            <a:r>
              <a:rPr lang="en-US" sz="1600" b="1" dirty="0">
                <a:solidFill>
                  <a:srgbClr val="201A1B"/>
                </a:solidFill>
                <a:latin typeface="Calibri" pitchFamily="34" charset="0"/>
                <a:ea typeface="Calibri" pitchFamily="34" charset="-122"/>
                <a:cs typeface="Calibri" pitchFamily="34" charset="-120"/>
              </a:rPr>
              <a:t>Drew the page</a:t>
            </a:r>
            <a:endParaRPr lang="en-US" sz="1600" dirty="0"/>
          </a:p>
        </p:txBody>
      </p:sp>
      <p:sp>
        <p:nvSpPr>
          <p:cNvPr id="27" name="Text 20"/>
          <p:cNvSpPr/>
          <p:nvPr/>
        </p:nvSpPr>
        <p:spPr>
          <a:xfrm>
            <a:off x="5806440" y="5413248"/>
            <a:ext cx="5943600" cy="41148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Read all that code and painted pixels on your screen.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TODAY'S JOURNEY</a:t>
            </a:r>
            <a:endParaRPr lang="en-US" sz="1300" dirty="0"/>
          </a:p>
        </p:txBody>
      </p:sp>
      <p:sp>
        <p:nvSpPr>
          <p:cNvPr id="3" name="Text 1"/>
          <p:cNvSpPr/>
          <p:nvPr/>
        </p:nvSpPr>
        <p:spPr>
          <a:xfrm>
            <a:off x="640080" y="713232"/>
            <a:ext cx="1097280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Five stages from Enter to pixels</a:t>
            </a:r>
            <a:endParaRPr lang="en-US" sz="3000" dirty="0"/>
          </a:p>
        </p:txBody>
      </p:sp>
      <p:sp>
        <p:nvSpPr>
          <p:cNvPr id="4" name="Shape 2"/>
          <p:cNvSpPr/>
          <p:nvPr/>
        </p:nvSpPr>
        <p:spPr>
          <a:xfrm>
            <a:off x="325984" y="2194560"/>
            <a:ext cx="2103120" cy="2286000"/>
          </a:xfrm>
          <a:prstGeom prst="roundRect">
            <a:avLst>
              <a:gd name="adj" fmla="val 3478"/>
            </a:avLst>
          </a:prstGeom>
          <a:solidFill>
            <a:srgbClr val="FFFFFF"/>
          </a:solidFill>
          <a:ln/>
          <a:effectLst>
            <a:outerShdw sx="100000" sy="100000" kx="0" ky="0" algn="bl" rotWithShape="0" blurRad="63500" dist="25400" dir="5400000">
              <a:srgbClr val="000000">
                <a:alpha val="10000"/>
              </a:srgbClr>
            </a:outerShdw>
          </a:effectLst>
        </p:spPr>
      </p:sp>
      <p:sp>
        <p:nvSpPr>
          <p:cNvPr id="5" name="Shape 3"/>
          <p:cNvSpPr/>
          <p:nvPr/>
        </p:nvSpPr>
        <p:spPr>
          <a:xfrm>
            <a:off x="920344" y="2468880"/>
            <a:ext cx="914400" cy="914400"/>
          </a:xfrm>
          <a:prstGeom prst="ellipse">
            <a:avLst/>
          </a:prstGeom>
          <a:solidFill>
            <a:srgbClr val="5C1620"/>
          </a:solidFill>
          <a:ln/>
        </p:spPr>
      </p:sp>
      <p:pic>
        <p:nvPicPr>
          <p:cNvPr id="6" name="Image 0" descr="images/icon_mapmarker.png">    </p:cNvPr>
          <p:cNvPicPr>
            <a:picLocks noChangeAspect="1"/>
          </p:cNvPicPr>
          <p:nvPr/>
        </p:nvPicPr>
        <p:blipFill>
          <a:blip r:embed="rId1"/>
          <a:stretch>
            <a:fillRect/>
          </a:stretch>
        </p:blipFill>
        <p:spPr>
          <a:xfrm>
            <a:off x="1130656" y="2679192"/>
            <a:ext cx="493776" cy="493776"/>
          </a:xfrm>
          <a:prstGeom prst="rect">
            <a:avLst/>
          </a:prstGeom>
        </p:spPr>
      </p:pic>
      <p:sp>
        <p:nvSpPr>
          <p:cNvPr id="7" name="Text 4"/>
          <p:cNvSpPr/>
          <p:nvPr/>
        </p:nvSpPr>
        <p:spPr>
          <a:xfrm>
            <a:off x="417424" y="3520440"/>
            <a:ext cx="1920240" cy="411480"/>
          </a:xfrm>
          <a:prstGeom prst="rect">
            <a:avLst/>
          </a:prstGeom>
          <a:noFill/>
          <a:ln/>
        </p:spPr>
        <p:txBody>
          <a:bodyPr wrap="square" lIns="0" tIns="0" rIns="0" bIns="0" rtlCol="0" anchor="ctr"/>
          <a:lstStyle/>
          <a:p>
            <a:pPr algn="ctr" indent="0" marL="0">
              <a:buNone/>
            </a:pPr>
            <a:r>
              <a:rPr lang="en-US" sz="1800" b="1" dirty="0">
                <a:solidFill>
                  <a:srgbClr val="5C1620"/>
                </a:solidFill>
                <a:latin typeface="Calibri" pitchFamily="34" charset="0"/>
                <a:ea typeface="Calibri" pitchFamily="34" charset="-122"/>
                <a:cs typeface="Calibri" pitchFamily="34" charset="-120"/>
              </a:rPr>
              <a:t>1. DNS</a:t>
            </a:r>
            <a:endParaRPr lang="en-US" sz="1800" dirty="0"/>
          </a:p>
        </p:txBody>
      </p:sp>
      <p:sp>
        <p:nvSpPr>
          <p:cNvPr id="8" name="Text 5"/>
          <p:cNvSpPr/>
          <p:nvPr/>
        </p:nvSpPr>
        <p:spPr>
          <a:xfrm>
            <a:off x="417424" y="3931920"/>
            <a:ext cx="1920240" cy="457200"/>
          </a:xfrm>
          <a:prstGeom prst="rect">
            <a:avLst/>
          </a:prstGeom>
          <a:noFill/>
          <a:ln/>
        </p:spPr>
        <p:txBody>
          <a:bodyPr wrap="square" lIns="0" tIns="0" rIns="0" bIns="0" rtlCol="0" anchor="ctr"/>
          <a:lstStyle/>
          <a:p>
            <a:pPr algn="ctr" indent="0" marL="0">
              <a:buNone/>
            </a:pPr>
            <a:r>
              <a:rPr lang="en-US" sz="1350" dirty="0">
                <a:solidFill>
                  <a:srgbClr val="6E6463"/>
                </a:solidFill>
                <a:latin typeface="Calibri" pitchFamily="34" charset="0"/>
                <a:ea typeface="Calibri" pitchFamily="34" charset="-122"/>
                <a:cs typeface="Calibri" pitchFamily="34" charset="-120"/>
              </a:rPr>
              <a:t>Find the address</a:t>
            </a:r>
            <a:endParaRPr lang="en-US" sz="1350" dirty="0"/>
          </a:p>
        </p:txBody>
      </p:sp>
      <p:pic>
        <p:nvPicPr>
          <p:cNvPr id="9" name="Image 1" descr="images/icon_arrow_m.png">    </p:cNvPr>
          <p:cNvPicPr>
            <a:picLocks noChangeAspect="1"/>
          </p:cNvPicPr>
          <p:nvPr/>
        </p:nvPicPr>
        <p:blipFill>
          <a:blip r:embed="rId2"/>
          <a:stretch>
            <a:fillRect/>
          </a:stretch>
        </p:blipFill>
        <p:spPr>
          <a:xfrm>
            <a:off x="2429104" y="3154680"/>
            <a:ext cx="237744" cy="237744"/>
          </a:xfrm>
          <a:prstGeom prst="rect">
            <a:avLst/>
          </a:prstGeom>
        </p:spPr>
      </p:pic>
      <p:sp>
        <p:nvSpPr>
          <p:cNvPr id="10" name="Shape 6"/>
          <p:cNvSpPr/>
          <p:nvPr/>
        </p:nvSpPr>
        <p:spPr>
          <a:xfrm>
            <a:off x="2685136" y="2194560"/>
            <a:ext cx="2103120" cy="2286000"/>
          </a:xfrm>
          <a:prstGeom prst="roundRect">
            <a:avLst>
              <a:gd name="adj" fmla="val 3478"/>
            </a:avLst>
          </a:prstGeom>
          <a:solidFill>
            <a:srgbClr val="FFFFFF"/>
          </a:solidFill>
          <a:ln/>
          <a:effectLst>
            <a:outerShdw sx="100000" sy="100000" kx="0" ky="0" algn="bl" rotWithShape="0" blurRad="63500" dist="25400" dir="5400000">
              <a:srgbClr val="000000">
                <a:alpha val="10000"/>
              </a:srgbClr>
            </a:outerShdw>
          </a:effectLst>
        </p:spPr>
      </p:sp>
      <p:sp>
        <p:nvSpPr>
          <p:cNvPr id="11" name="Shape 7"/>
          <p:cNvSpPr/>
          <p:nvPr/>
        </p:nvSpPr>
        <p:spPr>
          <a:xfrm>
            <a:off x="3279496" y="2468880"/>
            <a:ext cx="914400" cy="914400"/>
          </a:xfrm>
          <a:prstGeom prst="ellipse">
            <a:avLst/>
          </a:prstGeom>
          <a:solidFill>
            <a:srgbClr val="5C1620"/>
          </a:solidFill>
          <a:ln/>
        </p:spPr>
      </p:sp>
      <p:pic>
        <p:nvPicPr>
          <p:cNvPr id="12" name="Image 2" descr="images/icon_network.png">    </p:cNvPr>
          <p:cNvPicPr>
            <a:picLocks noChangeAspect="1"/>
          </p:cNvPicPr>
          <p:nvPr/>
        </p:nvPicPr>
        <p:blipFill>
          <a:blip r:embed="rId3"/>
          <a:stretch>
            <a:fillRect/>
          </a:stretch>
        </p:blipFill>
        <p:spPr>
          <a:xfrm>
            <a:off x="3489808" y="2679192"/>
            <a:ext cx="493776" cy="493776"/>
          </a:xfrm>
          <a:prstGeom prst="rect">
            <a:avLst/>
          </a:prstGeom>
        </p:spPr>
      </p:pic>
      <p:sp>
        <p:nvSpPr>
          <p:cNvPr id="13" name="Text 8"/>
          <p:cNvSpPr/>
          <p:nvPr/>
        </p:nvSpPr>
        <p:spPr>
          <a:xfrm>
            <a:off x="2776576" y="3520440"/>
            <a:ext cx="1920240" cy="411480"/>
          </a:xfrm>
          <a:prstGeom prst="rect">
            <a:avLst/>
          </a:prstGeom>
          <a:noFill/>
          <a:ln/>
        </p:spPr>
        <p:txBody>
          <a:bodyPr wrap="square" lIns="0" tIns="0" rIns="0" bIns="0" rtlCol="0" anchor="ctr"/>
          <a:lstStyle/>
          <a:p>
            <a:pPr algn="ctr" indent="0" marL="0">
              <a:buNone/>
            </a:pPr>
            <a:r>
              <a:rPr lang="en-US" sz="1800" b="1" dirty="0">
                <a:solidFill>
                  <a:srgbClr val="5C1620"/>
                </a:solidFill>
                <a:latin typeface="Calibri" pitchFamily="34" charset="0"/>
                <a:ea typeface="Calibri" pitchFamily="34" charset="-122"/>
                <a:cs typeface="Calibri" pitchFamily="34" charset="-120"/>
              </a:rPr>
              <a:t>2. TCP</a:t>
            </a:r>
            <a:endParaRPr lang="en-US" sz="1800" dirty="0"/>
          </a:p>
        </p:txBody>
      </p:sp>
      <p:sp>
        <p:nvSpPr>
          <p:cNvPr id="14" name="Text 9"/>
          <p:cNvSpPr/>
          <p:nvPr/>
        </p:nvSpPr>
        <p:spPr>
          <a:xfrm>
            <a:off x="2776576" y="3931920"/>
            <a:ext cx="1920240" cy="457200"/>
          </a:xfrm>
          <a:prstGeom prst="rect">
            <a:avLst/>
          </a:prstGeom>
          <a:noFill/>
          <a:ln/>
        </p:spPr>
        <p:txBody>
          <a:bodyPr wrap="square" lIns="0" tIns="0" rIns="0" bIns="0" rtlCol="0" anchor="ctr"/>
          <a:lstStyle/>
          <a:p>
            <a:pPr algn="ctr" indent="0" marL="0">
              <a:buNone/>
            </a:pPr>
            <a:r>
              <a:rPr lang="en-US" sz="1350" dirty="0">
                <a:solidFill>
                  <a:srgbClr val="6E6463"/>
                </a:solidFill>
                <a:latin typeface="Calibri" pitchFamily="34" charset="0"/>
                <a:ea typeface="Calibri" pitchFamily="34" charset="-122"/>
                <a:cs typeface="Calibri" pitchFamily="34" charset="-120"/>
              </a:rPr>
              <a:t>Open the pipe</a:t>
            </a:r>
            <a:endParaRPr lang="en-US" sz="1350" dirty="0"/>
          </a:p>
        </p:txBody>
      </p:sp>
      <p:pic>
        <p:nvPicPr>
          <p:cNvPr id="15" name="Image 3" descr="images/icon_arrow_m.png">    </p:cNvPr>
          <p:cNvPicPr>
            <a:picLocks noChangeAspect="1"/>
          </p:cNvPicPr>
          <p:nvPr/>
        </p:nvPicPr>
        <p:blipFill>
          <a:blip r:embed="rId4"/>
          <a:stretch>
            <a:fillRect/>
          </a:stretch>
        </p:blipFill>
        <p:spPr>
          <a:xfrm>
            <a:off x="4788256" y="3154680"/>
            <a:ext cx="237744" cy="237744"/>
          </a:xfrm>
          <a:prstGeom prst="rect">
            <a:avLst/>
          </a:prstGeom>
        </p:spPr>
      </p:pic>
      <p:sp>
        <p:nvSpPr>
          <p:cNvPr id="16" name="Shape 10"/>
          <p:cNvSpPr/>
          <p:nvPr/>
        </p:nvSpPr>
        <p:spPr>
          <a:xfrm>
            <a:off x="5044288" y="2194560"/>
            <a:ext cx="2103120" cy="2286000"/>
          </a:xfrm>
          <a:prstGeom prst="roundRect">
            <a:avLst>
              <a:gd name="adj" fmla="val 3478"/>
            </a:avLst>
          </a:prstGeom>
          <a:solidFill>
            <a:srgbClr val="FFFFFF"/>
          </a:solidFill>
          <a:ln/>
          <a:effectLst>
            <a:outerShdw sx="100000" sy="100000" kx="0" ky="0" algn="bl" rotWithShape="0" blurRad="63500" dist="25400" dir="5400000">
              <a:srgbClr val="000000">
                <a:alpha val="10000"/>
              </a:srgbClr>
            </a:outerShdw>
          </a:effectLst>
        </p:spPr>
      </p:sp>
      <p:sp>
        <p:nvSpPr>
          <p:cNvPr id="17" name="Shape 11"/>
          <p:cNvSpPr/>
          <p:nvPr/>
        </p:nvSpPr>
        <p:spPr>
          <a:xfrm>
            <a:off x="5638648" y="2468880"/>
            <a:ext cx="914400" cy="914400"/>
          </a:xfrm>
          <a:prstGeom prst="ellipse">
            <a:avLst/>
          </a:prstGeom>
          <a:solidFill>
            <a:srgbClr val="5C1620"/>
          </a:solidFill>
          <a:ln/>
        </p:spPr>
      </p:sp>
      <p:pic>
        <p:nvPicPr>
          <p:cNvPr id="18" name="Image 4" descr="images/icon_lock.png">    </p:cNvPr>
          <p:cNvPicPr>
            <a:picLocks noChangeAspect="1"/>
          </p:cNvPicPr>
          <p:nvPr/>
        </p:nvPicPr>
        <p:blipFill>
          <a:blip r:embed="rId5"/>
          <a:stretch>
            <a:fillRect/>
          </a:stretch>
        </p:blipFill>
        <p:spPr>
          <a:xfrm>
            <a:off x="5848960" y="2679192"/>
            <a:ext cx="493776" cy="493776"/>
          </a:xfrm>
          <a:prstGeom prst="rect">
            <a:avLst/>
          </a:prstGeom>
        </p:spPr>
      </p:pic>
      <p:sp>
        <p:nvSpPr>
          <p:cNvPr id="19" name="Text 12"/>
          <p:cNvSpPr/>
          <p:nvPr/>
        </p:nvSpPr>
        <p:spPr>
          <a:xfrm>
            <a:off x="5135728" y="3520440"/>
            <a:ext cx="1920240" cy="411480"/>
          </a:xfrm>
          <a:prstGeom prst="rect">
            <a:avLst/>
          </a:prstGeom>
          <a:noFill/>
          <a:ln/>
        </p:spPr>
        <p:txBody>
          <a:bodyPr wrap="square" lIns="0" tIns="0" rIns="0" bIns="0" rtlCol="0" anchor="ctr"/>
          <a:lstStyle/>
          <a:p>
            <a:pPr algn="ctr" indent="0" marL="0">
              <a:buNone/>
            </a:pPr>
            <a:r>
              <a:rPr lang="en-US" sz="1800" b="1" dirty="0">
                <a:solidFill>
                  <a:srgbClr val="5C1620"/>
                </a:solidFill>
                <a:latin typeface="Calibri" pitchFamily="34" charset="0"/>
                <a:ea typeface="Calibri" pitchFamily="34" charset="-122"/>
                <a:cs typeface="Calibri" pitchFamily="34" charset="-120"/>
              </a:rPr>
              <a:t>3. TLS</a:t>
            </a:r>
            <a:endParaRPr lang="en-US" sz="1800" dirty="0"/>
          </a:p>
        </p:txBody>
      </p:sp>
      <p:sp>
        <p:nvSpPr>
          <p:cNvPr id="20" name="Text 13"/>
          <p:cNvSpPr/>
          <p:nvPr/>
        </p:nvSpPr>
        <p:spPr>
          <a:xfrm>
            <a:off x="5135728" y="3931920"/>
            <a:ext cx="1920240" cy="457200"/>
          </a:xfrm>
          <a:prstGeom prst="rect">
            <a:avLst/>
          </a:prstGeom>
          <a:noFill/>
          <a:ln/>
        </p:spPr>
        <p:txBody>
          <a:bodyPr wrap="square" lIns="0" tIns="0" rIns="0" bIns="0" rtlCol="0" anchor="ctr"/>
          <a:lstStyle/>
          <a:p>
            <a:pPr algn="ctr" indent="0" marL="0">
              <a:buNone/>
            </a:pPr>
            <a:r>
              <a:rPr lang="en-US" sz="1350" dirty="0">
                <a:solidFill>
                  <a:srgbClr val="6E6463"/>
                </a:solidFill>
                <a:latin typeface="Calibri" pitchFamily="34" charset="0"/>
                <a:ea typeface="Calibri" pitchFamily="34" charset="-122"/>
                <a:cs typeface="Calibri" pitchFamily="34" charset="-120"/>
              </a:rPr>
              <a:t>Make it secret</a:t>
            </a:r>
            <a:endParaRPr lang="en-US" sz="1350" dirty="0"/>
          </a:p>
        </p:txBody>
      </p:sp>
      <p:pic>
        <p:nvPicPr>
          <p:cNvPr id="21" name="Image 5" descr="images/icon_arrow_m.png">    </p:cNvPr>
          <p:cNvPicPr>
            <a:picLocks noChangeAspect="1"/>
          </p:cNvPicPr>
          <p:nvPr/>
        </p:nvPicPr>
        <p:blipFill>
          <a:blip r:embed="rId6"/>
          <a:stretch>
            <a:fillRect/>
          </a:stretch>
        </p:blipFill>
        <p:spPr>
          <a:xfrm>
            <a:off x="7147408" y="3154680"/>
            <a:ext cx="237744" cy="237744"/>
          </a:xfrm>
          <a:prstGeom prst="rect">
            <a:avLst/>
          </a:prstGeom>
        </p:spPr>
      </p:pic>
      <p:sp>
        <p:nvSpPr>
          <p:cNvPr id="22" name="Shape 14"/>
          <p:cNvSpPr/>
          <p:nvPr/>
        </p:nvSpPr>
        <p:spPr>
          <a:xfrm>
            <a:off x="7403440" y="2194560"/>
            <a:ext cx="2103120" cy="2286000"/>
          </a:xfrm>
          <a:prstGeom prst="roundRect">
            <a:avLst>
              <a:gd name="adj" fmla="val 3478"/>
            </a:avLst>
          </a:prstGeom>
          <a:solidFill>
            <a:srgbClr val="FFFFFF"/>
          </a:solidFill>
          <a:ln/>
          <a:effectLst>
            <a:outerShdw sx="100000" sy="100000" kx="0" ky="0" algn="bl" rotWithShape="0" blurRad="63500" dist="25400" dir="5400000">
              <a:srgbClr val="000000">
                <a:alpha val="10000"/>
              </a:srgbClr>
            </a:outerShdw>
          </a:effectLst>
        </p:spPr>
      </p:sp>
      <p:sp>
        <p:nvSpPr>
          <p:cNvPr id="23" name="Shape 15"/>
          <p:cNvSpPr/>
          <p:nvPr/>
        </p:nvSpPr>
        <p:spPr>
          <a:xfrm>
            <a:off x="7997800" y="2468880"/>
            <a:ext cx="914400" cy="914400"/>
          </a:xfrm>
          <a:prstGeom prst="ellipse">
            <a:avLst/>
          </a:prstGeom>
          <a:solidFill>
            <a:srgbClr val="5C1620"/>
          </a:solidFill>
          <a:ln/>
        </p:spPr>
      </p:sp>
      <p:pic>
        <p:nvPicPr>
          <p:cNvPr id="24" name="Image 6" descr="images/icon_exchange.png">    </p:cNvPr>
          <p:cNvPicPr>
            <a:picLocks noChangeAspect="1"/>
          </p:cNvPicPr>
          <p:nvPr/>
        </p:nvPicPr>
        <p:blipFill>
          <a:blip r:embed="rId7"/>
          <a:stretch>
            <a:fillRect/>
          </a:stretch>
        </p:blipFill>
        <p:spPr>
          <a:xfrm>
            <a:off x="8208112" y="2679192"/>
            <a:ext cx="493776" cy="493776"/>
          </a:xfrm>
          <a:prstGeom prst="rect">
            <a:avLst/>
          </a:prstGeom>
        </p:spPr>
      </p:pic>
      <p:sp>
        <p:nvSpPr>
          <p:cNvPr id="25" name="Text 16"/>
          <p:cNvSpPr/>
          <p:nvPr/>
        </p:nvSpPr>
        <p:spPr>
          <a:xfrm>
            <a:off x="7494880" y="3520440"/>
            <a:ext cx="1920240" cy="411480"/>
          </a:xfrm>
          <a:prstGeom prst="rect">
            <a:avLst/>
          </a:prstGeom>
          <a:noFill/>
          <a:ln/>
        </p:spPr>
        <p:txBody>
          <a:bodyPr wrap="square" lIns="0" tIns="0" rIns="0" bIns="0" rtlCol="0" anchor="ctr"/>
          <a:lstStyle/>
          <a:p>
            <a:pPr algn="ctr" indent="0" marL="0">
              <a:buNone/>
            </a:pPr>
            <a:r>
              <a:rPr lang="en-US" sz="1800" b="1" dirty="0">
                <a:solidFill>
                  <a:srgbClr val="5C1620"/>
                </a:solidFill>
                <a:latin typeface="Calibri" pitchFamily="34" charset="0"/>
                <a:ea typeface="Calibri" pitchFamily="34" charset="-122"/>
                <a:cs typeface="Calibri" pitchFamily="34" charset="-120"/>
              </a:rPr>
              <a:t>4. HTTP</a:t>
            </a:r>
            <a:endParaRPr lang="en-US" sz="1800" dirty="0"/>
          </a:p>
        </p:txBody>
      </p:sp>
      <p:sp>
        <p:nvSpPr>
          <p:cNvPr id="26" name="Text 17"/>
          <p:cNvSpPr/>
          <p:nvPr/>
        </p:nvSpPr>
        <p:spPr>
          <a:xfrm>
            <a:off x="7494880" y="3931920"/>
            <a:ext cx="1920240" cy="457200"/>
          </a:xfrm>
          <a:prstGeom prst="rect">
            <a:avLst/>
          </a:prstGeom>
          <a:noFill/>
          <a:ln/>
        </p:spPr>
        <p:txBody>
          <a:bodyPr wrap="square" lIns="0" tIns="0" rIns="0" bIns="0" rtlCol="0" anchor="ctr"/>
          <a:lstStyle/>
          <a:p>
            <a:pPr algn="ctr" indent="0" marL="0">
              <a:buNone/>
            </a:pPr>
            <a:r>
              <a:rPr lang="en-US" sz="1350" dirty="0">
                <a:solidFill>
                  <a:srgbClr val="6E6463"/>
                </a:solidFill>
                <a:latin typeface="Calibri" pitchFamily="34" charset="0"/>
                <a:ea typeface="Calibri" pitchFamily="34" charset="-122"/>
                <a:cs typeface="Calibri" pitchFamily="34" charset="-120"/>
              </a:rPr>
              <a:t>Ask &amp; answer</a:t>
            </a:r>
            <a:endParaRPr lang="en-US" sz="1350" dirty="0"/>
          </a:p>
        </p:txBody>
      </p:sp>
      <p:pic>
        <p:nvPicPr>
          <p:cNvPr id="27" name="Image 7" descr="images/icon_arrow_m.png">    </p:cNvPr>
          <p:cNvPicPr>
            <a:picLocks noChangeAspect="1"/>
          </p:cNvPicPr>
          <p:nvPr/>
        </p:nvPicPr>
        <p:blipFill>
          <a:blip r:embed="rId8"/>
          <a:stretch>
            <a:fillRect/>
          </a:stretch>
        </p:blipFill>
        <p:spPr>
          <a:xfrm>
            <a:off x="9506560" y="3154680"/>
            <a:ext cx="237744" cy="237744"/>
          </a:xfrm>
          <a:prstGeom prst="rect">
            <a:avLst/>
          </a:prstGeom>
        </p:spPr>
      </p:pic>
      <p:sp>
        <p:nvSpPr>
          <p:cNvPr id="28" name="Shape 18"/>
          <p:cNvSpPr/>
          <p:nvPr/>
        </p:nvSpPr>
        <p:spPr>
          <a:xfrm>
            <a:off x="9762592" y="2194560"/>
            <a:ext cx="2103120" cy="2286000"/>
          </a:xfrm>
          <a:prstGeom prst="roundRect">
            <a:avLst>
              <a:gd name="adj" fmla="val 3478"/>
            </a:avLst>
          </a:prstGeom>
          <a:solidFill>
            <a:srgbClr val="FFFFFF"/>
          </a:solidFill>
          <a:ln/>
          <a:effectLst>
            <a:outerShdw sx="100000" sy="100000" kx="0" ky="0" algn="bl" rotWithShape="0" blurRad="63500" dist="25400" dir="5400000">
              <a:srgbClr val="000000">
                <a:alpha val="10000"/>
              </a:srgbClr>
            </a:outerShdw>
          </a:effectLst>
        </p:spPr>
      </p:sp>
      <p:sp>
        <p:nvSpPr>
          <p:cNvPr id="29" name="Shape 19"/>
          <p:cNvSpPr/>
          <p:nvPr/>
        </p:nvSpPr>
        <p:spPr>
          <a:xfrm>
            <a:off x="10356952" y="2468880"/>
            <a:ext cx="914400" cy="914400"/>
          </a:xfrm>
          <a:prstGeom prst="ellipse">
            <a:avLst/>
          </a:prstGeom>
          <a:solidFill>
            <a:srgbClr val="5C1620"/>
          </a:solidFill>
          <a:ln/>
        </p:spPr>
      </p:sp>
      <p:pic>
        <p:nvPicPr>
          <p:cNvPr id="30" name="Image 8" descr="images/icon_paint.png">    </p:cNvPr>
          <p:cNvPicPr>
            <a:picLocks noChangeAspect="1"/>
          </p:cNvPicPr>
          <p:nvPr/>
        </p:nvPicPr>
        <p:blipFill>
          <a:blip r:embed="rId9"/>
          <a:stretch>
            <a:fillRect/>
          </a:stretch>
        </p:blipFill>
        <p:spPr>
          <a:xfrm>
            <a:off x="10567264" y="2679192"/>
            <a:ext cx="493776" cy="493776"/>
          </a:xfrm>
          <a:prstGeom prst="rect">
            <a:avLst/>
          </a:prstGeom>
        </p:spPr>
      </p:pic>
      <p:sp>
        <p:nvSpPr>
          <p:cNvPr id="31" name="Text 20"/>
          <p:cNvSpPr/>
          <p:nvPr/>
        </p:nvSpPr>
        <p:spPr>
          <a:xfrm>
            <a:off x="9854032" y="3520440"/>
            <a:ext cx="1920240" cy="411480"/>
          </a:xfrm>
          <a:prstGeom prst="rect">
            <a:avLst/>
          </a:prstGeom>
          <a:noFill/>
          <a:ln/>
        </p:spPr>
        <p:txBody>
          <a:bodyPr wrap="square" lIns="0" tIns="0" rIns="0" bIns="0" rtlCol="0" anchor="ctr"/>
          <a:lstStyle/>
          <a:p>
            <a:pPr algn="ctr" indent="0" marL="0">
              <a:buNone/>
            </a:pPr>
            <a:r>
              <a:rPr lang="en-US" sz="1800" b="1" dirty="0">
                <a:solidFill>
                  <a:srgbClr val="5C1620"/>
                </a:solidFill>
                <a:latin typeface="Calibri" pitchFamily="34" charset="0"/>
                <a:ea typeface="Calibri" pitchFamily="34" charset="-122"/>
                <a:cs typeface="Calibri" pitchFamily="34" charset="-120"/>
              </a:rPr>
              <a:t>5. Render</a:t>
            </a:r>
            <a:endParaRPr lang="en-US" sz="1800" dirty="0"/>
          </a:p>
        </p:txBody>
      </p:sp>
      <p:sp>
        <p:nvSpPr>
          <p:cNvPr id="32" name="Text 21"/>
          <p:cNvSpPr/>
          <p:nvPr/>
        </p:nvSpPr>
        <p:spPr>
          <a:xfrm>
            <a:off x="9854032" y="3931920"/>
            <a:ext cx="1920240" cy="457200"/>
          </a:xfrm>
          <a:prstGeom prst="rect">
            <a:avLst/>
          </a:prstGeom>
          <a:noFill/>
          <a:ln/>
        </p:spPr>
        <p:txBody>
          <a:bodyPr wrap="square" lIns="0" tIns="0" rIns="0" bIns="0" rtlCol="0" anchor="ctr"/>
          <a:lstStyle/>
          <a:p>
            <a:pPr algn="ctr" indent="0" marL="0">
              <a:buNone/>
            </a:pPr>
            <a:r>
              <a:rPr lang="en-US" sz="1350" dirty="0">
                <a:solidFill>
                  <a:srgbClr val="6E6463"/>
                </a:solidFill>
                <a:latin typeface="Calibri" pitchFamily="34" charset="0"/>
                <a:ea typeface="Calibri" pitchFamily="34" charset="-122"/>
                <a:cs typeface="Calibri" pitchFamily="34" charset="-120"/>
              </a:rPr>
              <a:t>Draw the page</a:t>
            </a:r>
            <a:endParaRPr lang="en-US" sz="1350" dirty="0"/>
          </a:p>
        </p:txBody>
      </p:sp>
      <p:sp>
        <p:nvSpPr>
          <p:cNvPr id="33" name="Text 22"/>
          <p:cNvSpPr/>
          <p:nvPr/>
        </p:nvSpPr>
        <p:spPr>
          <a:xfrm>
            <a:off x="640080" y="5029200"/>
            <a:ext cx="10972800" cy="457200"/>
          </a:xfrm>
          <a:prstGeom prst="rect">
            <a:avLst/>
          </a:prstGeom>
          <a:noFill/>
          <a:ln/>
        </p:spPr>
        <p:txBody>
          <a:bodyPr wrap="square" lIns="0" tIns="0" rIns="0" bIns="0" rtlCol="0" anchor="ctr"/>
          <a:lstStyle/>
          <a:p>
            <a:pPr algn="ctr" indent="0" marL="0">
              <a:buNone/>
            </a:pPr>
            <a:r>
              <a:rPr lang="en-US" sz="1500" i="1" dirty="0">
                <a:solidFill>
                  <a:srgbClr val="6E6463"/>
                </a:solidFill>
                <a:latin typeface="Calibri" pitchFamily="34" charset="0"/>
                <a:ea typeface="Calibri" pitchFamily="34" charset="-122"/>
                <a:cs typeface="Calibri" pitchFamily="34" charset="-120"/>
              </a:rPr>
              <a:t>Each stage has to finish before the next begins. We'll go through all five, then go deep on each.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STAGE 1 OF 5  •  DNS</a:t>
            </a:r>
            <a:endParaRPr lang="en-US" sz="1300" dirty="0"/>
          </a:p>
        </p:txBody>
      </p:sp>
      <p:sp>
        <p:nvSpPr>
          <p:cNvPr id="3" name="Text 1"/>
          <p:cNvSpPr/>
          <p:nvPr/>
        </p:nvSpPr>
        <p:spPr>
          <a:xfrm>
            <a:off x="640080" y="713232"/>
            <a:ext cx="658368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Finding the address</a:t>
            </a:r>
            <a:endParaRPr lang="en-US" sz="3000" dirty="0"/>
          </a:p>
        </p:txBody>
      </p:sp>
      <p:sp>
        <p:nvSpPr>
          <p:cNvPr id="4" name="Text 2"/>
          <p:cNvSpPr/>
          <p:nvPr/>
        </p:nvSpPr>
        <p:spPr>
          <a:xfrm>
            <a:off x="640080" y="1783080"/>
            <a:ext cx="5852160" cy="1005840"/>
          </a:xfrm>
          <a:prstGeom prst="rect">
            <a:avLst/>
          </a:prstGeom>
          <a:noFill/>
          <a:ln/>
        </p:spPr>
        <p:txBody>
          <a:bodyPr wrap="square" lIns="0" tIns="0" rIns="0" bIns="0" rtlCol="0" anchor="ctr"/>
          <a:lstStyle/>
          <a:p>
            <a:pPr indent="0" marL="0">
              <a:lnSpc>
                <a:spcPct val="120000"/>
              </a:lnSpc>
              <a:buNone/>
            </a:pPr>
            <a:r>
              <a:rPr lang="en-US" sz="1550" dirty="0">
                <a:solidFill>
                  <a:srgbClr val="201A1B"/>
                </a:solidFill>
                <a:latin typeface="Calibri" pitchFamily="34" charset="0"/>
                <a:ea typeface="Calibri" pitchFamily="34" charset="-122"/>
                <a:cs typeface="Calibri" pitchFamily="34" charset="-120"/>
              </a:rPr>
              <a:t>Computers don't talk in names, they talk in numbers. DNS (Domain Name System) is the phonebook of the internet: it turns shorterloop.com into an IP address like 76.76.21.21.</a:t>
            </a:r>
            <a:endParaRPr lang="en-US" sz="1550" dirty="0"/>
          </a:p>
        </p:txBody>
      </p:sp>
      <p:sp>
        <p:nvSpPr>
          <p:cNvPr id="5" name="Shape 3"/>
          <p:cNvSpPr/>
          <p:nvPr/>
        </p:nvSpPr>
        <p:spPr>
          <a:xfrm>
            <a:off x="658368" y="2916936"/>
            <a:ext cx="237744" cy="237744"/>
          </a:xfrm>
          <a:prstGeom prst="ellipse">
            <a:avLst/>
          </a:prstGeom>
          <a:solidFill>
            <a:srgbClr val="C0603A"/>
          </a:solidFill>
          <a:ln/>
        </p:spPr>
      </p:sp>
      <p:sp>
        <p:nvSpPr>
          <p:cNvPr id="6" name="Text 4"/>
          <p:cNvSpPr/>
          <p:nvPr/>
        </p:nvSpPr>
        <p:spPr>
          <a:xfrm>
            <a:off x="1024128" y="283464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It's a chain of lookups</a:t>
            </a:r>
            <a:endParaRPr lang="en-US" sz="1550" dirty="0"/>
          </a:p>
        </p:txBody>
      </p:sp>
      <p:sp>
        <p:nvSpPr>
          <p:cNvPr id="7" name="Text 5"/>
          <p:cNvSpPr/>
          <p:nvPr/>
        </p:nvSpPr>
        <p:spPr>
          <a:xfrm>
            <a:off x="1024128" y="317296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Browser cache, then OS, then your router, then your ISP's resolver, then root and authoritative servers.</a:t>
            </a:r>
            <a:endParaRPr lang="en-US" sz="1250" dirty="0"/>
          </a:p>
        </p:txBody>
      </p:sp>
      <p:sp>
        <p:nvSpPr>
          <p:cNvPr id="8" name="Shape 6"/>
          <p:cNvSpPr/>
          <p:nvPr/>
        </p:nvSpPr>
        <p:spPr>
          <a:xfrm>
            <a:off x="658368" y="3785616"/>
            <a:ext cx="237744" cy="237744"/>
          </a:xfrm>
          <a:prstGeom prst="ellipse">
            <a:avLst/>
          </a:prstGeom>
          <a:solidFill>
            <a:srgbClr val="C0603A"/>
          </a:solidFill>
          <a:ln/>
        </p:spPr>
      </p:sp>
      <p:sp>
        <p:nvSpPr>
          <p:cNvPr id="9" name="Text 7"/>
          <p:cNvSpPr/>
          <p:nvPr/>
        </p:nvSpPr>
        <p:spPr>
          <a:xfrm>
            <a:off x="1024128" y="370332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It's cached at every level</a:t>
            </a:r>
            <a:endParaRPr lang="en-US" sz="1550" dirty="0"/>
          </a:p>
        </p:txBody>
      </p:sp>
      <p:sp>
        <p:nvSpPr>
          <p:cNvPr id="10" name="Text 8"/>
          <p:cNvSpPr/>
          <p:nvPr/>
        </p:nvSpPr>
        <p:spPr>
          <a:xfrm>
            <a:off x="1024128" y="404164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Once resolved, the answer is stored for a while (the TTL) so the next visit skips the work.</a:t>
            </a:r>
            <a:endParaRPr lang="en-US" sz="1250" dirty="0"/>
          </a:p>
        </p:txBody>
      </p:sp>
      <p:sp>
        <p:nvSpPr>
          <p:cNvPr id="11" name="Shape 9"/>
          <p:cNvSpPr/>
          <p:nvPr/>
        </p:nvSpPr>
        <p:spPr>
          <a:xfrm>
            <a:off x="658368" y="4654296"/>
            <a:ext cx="237744" cy="237744"/>
          </a:xfrm>
          <a:prstGeom prst="ellipse">
            <a:avLst/>
          </a:prstGeom>
          <a:solidFill>
            <a:srgbClr val="C0603A"/>
          </a:solidFill>
          <a:ln/>
        </p:spPr>
      </p:sp>
      <p:sp>
        <p:nvSpPr>
          <p:cNvPr id="12" name="Text 10"/>
          <p:cNvSpPr/>
          <p:nvPr/>
        </p:nvSpPr>
        <p:spPr>
          <a:xfrm>
            <a:off x="1024128" y="457200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Why it can be slow</a:t>
            </a:r>
            <a:endParaRPr lang="en-US" sz="1550" dirty="0"/>
          </a:p>
        </p:txBody>
      </p:sp>
      <p:sp>
        <p:nvSpPr>
          <p:cNvPr id="13" name="Text 11"/>
          <p:cNvSpPr/>
          <p:nvPr/>
        </p:nvSpPr>
        <p:spPr>
          <a:xfrm>
            <a:off x="1024128" y="491032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A cold lookup with no cache can take multiple round trips before you even reach the site.</a:t>
            </a:r>
            <a:endParaRPr lang="en-US" sz="1250" dirty="0"/>
          </a:p>
        </p:txBody>
      </p:sp>
      <p:sp>
        <p:nvSpPr>
          <p:cNvPr id="14" name="Shape 12"/>
          <p:cNvSpPr/>
          <p:nvPr/>
        </p:nvSpPr>
        <p:spPr>
          <a:xfrm>
            <a:off x="7086600" y="1783080"/>
            <a:ext cx="4480560" cy="4206240"/>
          </a:xfrm>
          <a:prstGeom prst="roundRect">
            <a:avLst>
              <a:gd name="adj" fmla="val 1304"/>
            </a:avLst>
          </a:prstGeom>
          <a:solidFill>
            <a:srgbClr val="2B2424"/>
          </a:solidFill>
          <a:ln/>
          <a:effectLst>
            <a:outerShdw sx="100000" sy="100000" kx="0" ky="0" algn="bl" rotWithShape="0" blurRad="88900" dist="38100" dir="5400000">
              <a:srgbClr val="000000">
                <a:alpha val="18000"/>
              </a:srgbClr>
            </a:outerShdw>
          </a:effectLst>
        </p:spPr>
      </p:sp>
      <p:sp>
        <p:nvSpPr>
          <p:cNvPr id="15" name="Text 13"/>
          <p:cNvSpPr/>
          <p:nvPr/>
        </p:nvSpPr>
        <p:spPr>
          <a:xfrm>
            <a:off x="7360920" y="1965960"/>
            <a:ext cx="3931920" cy="365760"/>
          </a:xfrm>
          <a:prstGeom prst="rect">
            <a:avLst/>
          </a:prstGeom>
          <a:noFill/>
          <a:ln/>
        </p:spPr>
        <p:txBody>
          <a:bodyPr wrap="square" lIns="0" tIns="0" rIns="0" bIns="0" rtlCol="0" anchor="ctr"/>
          <a:lstStyle/>
          <a:p>
            <a:pPr indent="0" marL="0">
              <a:buNone/>
            </a:pPr>
            <a:r>
              <a:rPr lang="en-US" sz="1200" b="1" spc="200" kern="0" dirty="0">
                <a:solidFill>
                  <a:srgbClr val="E0A93B"/>
                </a:solidFill>
                <a:latin typeface="Calibri" pitchFamily="34" charset="0"/>
                <a:ea typeface="Calibri" pitchFamily="34" charset="-122"/>
                <a:cs typeface="Calibri" pitchFamily="34" charset="-120"/>
              </a:rPr>
              <a:t>Try it yourself</a:t>
            </a:r>
            <a:endParaRPr lang="en-US" sz="1200" dirty="0"/>
          </a:p>
        </p:txBody>
      </p:sp>
      <p:sp>
        <p:nvSpPr>
          <p:cNvPr id="16" name="Text 14"/>
          <p:cNvSpPr/>
          <p:nvPr/>
        </p:nvSpPr>
        <p:spPr>
          <a:xfrm>
            <a:off x="7360920" y="2377440"/>
            <a:ext cx="3977640" cy="3474720"/>
          </a:xfrm>
          <a:prstGeom prst="rect">
            <a:avLst/>
          </a:prstGeom>
          <a:noFill/>
          <a:ln/>
        </p:spPr>
        <p:txBody>
          <a:bodyPr wrap="square" lIns="0" tIns="0" rIns="0" bIns="0" rtlCol="0" anchor="t"/>
          <a:lstStyle/>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 nslookup shorterloop.com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Name:    shorterloop.com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Address: 76.76.21.21
</a:t>
            </a:r>
            <a:endParaRPr lang="en-US" sz="1200" dirty="0"/>
          </a:p>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 dig shorterloop.com +short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76.76.21.21
</a:t>
            </a:r>
            <a:endParaRPr lang="en-US" sz="1200" dirty="0"/>
          </a:p>
          <a:p>
            <a:pPr indent="0" marL="0">
              <a:lnSpc>
                <a:spcPct val="110000"/>
              </a:lnSpc>
              <a:buNone/>
            </a:pPr>
            <a:r>
              <a:rPr lang="en-US" sz="1200" dirty="0">
                <a:solidFill>
                  <a:srgbClr val="C0603A"/>
                </a:solidFill>
                <a:latin typeface="Courier New" pitchFamily="34" charset="0"/>
                <a:ea typeface="Courier New" pitchFamily="34" charset="-122"/>
                <a:cs typeface="Courier New" pitchFamily="34" charset="-120"/>
              </a:rPr>
              <a:t># the name is for humans
</a:t>
            </a:r>
            <a:endParaRPr lang="en-US" sz="1200" dirty="0"/>
          </a:p>
          <a:p>
            <a:pPr indent="0" marL="0">
              <a:lnSpc>
                <a:spcPct val="110000"/>
              </a:lnSpc>
              <a:buNone/>
            </a:pPr>
            <a:r>
              <a:rPr lang="en-US" sz="1200" dirty="0">
                <a:solidFill>
                  <a:srgbClr val="C0603A"/>
                </a:solidFill>
                <a:latin typeface="Courier New" pitchFamily="34" charset="0"/>
                <a:ea typeface="Courier New" pitchFamily="34" charset="-122"/>
                <a:cs typeface="Courier New" pitchFamily="34" charset="-120"/>
              </a:rPr>
              <a:t># the IP is for machines</a:t>
            </a:r>
            <a:endParaRPr lang="en-US" sz="1200" dirty="0"/>
          </a:p>
        </p:txBody>
      </p:sp>
      <p:sp>
        <p:nvSpPr>
          <p:cNvPr id="17" name="Text 15"/>
          <p:cNvSpPr/>
          <p:nvPr/>
        </p:nvSpPr>
        <p:spPr>
          <a:xfrm>
            <a:off x="640080" y="5989320"/>
            <a:ext cx="6400800" cy="411480"/>
          </a:xfrm>
          <a:prstGeom prst="rect">
            <a:avLst/>
          </a:prstGeom>
          <a:noFill/>
          <a:ln/>
        </p:spPr>
        <p:txBody>
          <a:bodyPr wrap="square" lIns="0" tIns="0" rIns="0" bIns="0" rtlCol="0" anchor="ctr"/>
          <a:lstStyle/>
          <a:p>
            <a:pPr indent="0" marL="0">
              <a:buNone/>
            </a:pPr>
            <a:r>
              <a:rPr lang="en-US" sz="1200" i="1" dirty="0">
                <a:solidFill>
                  <a:srgbClr val="6E6463"/>
                </a:solidFill>
                <a:latin typeface="Calibri" pitchFamily="34" charset="0"/>
                <a:ea typeface="Calibri" pitchFamily="34" charset="-122"/>
                <a:cs typeface="Calibri" pitchFamily="34" charset="-120"/>
              </a:rPr>
              <a:t>Deep cut: DNS mostly runs over UDP on port 53. Ask me why UDP and not TCP.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STAGE 2 OF 5  •  TCP</a:t>
            </a:r>
            <a:endParaRPr lang="en-US" sz="1300" dirty="0"/>
          </a:p>
        </p:txBody>
      </p:sp>
      <p:sp>
        <p:nvSpPr>
          <p:cNvPr id="3" name="Text 1"/>
          <p:cNvSpPr/>
          <p:nvPr/>
        </p:nvSpPr>
        <p:spPr>
          <a:xfrm>
            <a:off x="640080" y="713232"/>
            <a:ext cx="658368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Opening a reliable pipe</a:t>
            </a:r>
            <a:endParaRPr lang="en-US" sz="3000" dirty="0"/>
          </a:p>
        </p:txBody>
      </p:sp>
      <p:sp>
        <p:nvSpPr>
          <p:cNvPr id="4" name="Text 2"/>
          <p:cNvSpPr/>
          <p:nvPr/>
        </p:nvSpPr>
        <p:spPr>
          <a:xfrm>
            <a:off x="640080" y="1783080"/>
            <a:ext cx="5852160" cy="1005840"/>
          </a:xfrm>
          <a:prstGeom prst="rect">
            <a:avLst/>
          </a:prstGeom>
          <a:noFill/>
          <a:ln/>
        </p:spPr>
        <p:txBody>
          <a:bodyPr wrap="square" lIns="0" tIns="0" rIns="0" bIns="0" rtlCol="0" anchor="ctr"/>
          <a:lstStyle/>
          <a:p>
            <a:pPr indent="0" marL="0">
              <a:lnSpc>
                <a:spcPct val="120000"/>
              </a:lnSpc>
              <a:buNone/>
            </a:pPr>
            <a:r>
              <a:rPr lang="en-US" sz="1550" dirty="0">
                <a:solidFill>
                  <a:srgbClr val="201A1B"/>
                </a:solidFill>
                <a:latin typeface="Calibri" pitchFamily="34" charset="0"/>
                <a:ea typeface="Calibri" pitchFamily="34" charset="-122"/>
                <a:cs typeface="Calibri" pitchFamily="34" charset="-120"/>
              </a:rPr>
              <a:t>Now we have the IP. Before sending any real data, the browser and server agree to talk using TCP. This is the famous three-way handshake.</a:t>
            </a:r>
            <a:endParaRPr lang="en-US" sz="1550" dirty="0"/>
          </a:p>
        </p:txBody>
      </p:sp>
      <p:sp>
        <p:nvSpPr>
          <p:cNvPr id="5" name="Shape 3"/>
          <p:cNvSpPr/>
          <p:nvPr/>
        </p:nvSpPr>
        <p:spPr>
          <a:xfrm>
            <a:off x="658368" y="2916936"/>
            <a:ext cx="237744" cy="237744"/>
          </a:xfrm>
          <a:prstGeom prst="ellipse">
            <a:avLst/>
          </a:prstGeom>
          <a:solidFill>
            <a:srgbClr val="C0603A"/>
          </a:solidFill>
          <a:ln/>
        </p:spPr>
      </p:sp>
      <p:sp>
        <p:nvSpPr>
          <p:cNvPr id="6" name="Text 4"/>
          <p:cNvSpPr/>
          <p:nvPr/>
        </p:nvSpPr>
        <p:spPr>
          <a:xfrm>
            <a:off x="1024128" y="283464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SYN → SYN-ACK → ACK</a:t>
            </a:r>
            <a:endParaRPr lang="en-US" sz="1550" dirty="0"/>
          </a:p>
        </p:txBody>
      </p:sp>
      <p:sp>
        <p:nvSpPr>
          <p:cNvPr id="7" name="Text 5"/>
          <p:cNvSpPr/>
          <p:nvPr/>
        </p:nvSpPr>
        <p:spPr>
          <a:xfrm>
            <a:off x="1024128" y="317296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Client says “let's talk”, server says “ok, you too?”, client says “yes”. Now the pipe is open.</a:t>
            </a:r>
            <a:endParaRPr lang="en-US" sz="1250" dirty="0"/>
          </a:p>
        </p:txBody>
      </p:sp>
      <p:sp>
        <p:nvSpPr>
          <p:cNvPr id="8" name="Shape 6"/>
          <p:cNvSpPr/>
          <p:nvPr/>
        </p:nvSpPr>
        <p:spPr>
          <a:xfrm>
            <a:off x="658368" y="3785616"/>
            <a:ext cx="237744" cy="237744"/>
          </a:xfrm>
          <a:prstGeom prst="ellipse">
            <a:avLst/>
          </a:prstGeom>
          <a:solidFill>
            <a:srgbClr val="C0603A"/>
          </a:solidFill>
          <a:ln/>
        </p:spPr>
      </p:sp>
      <p:sp>
        <p:nvSpPr>
          <p:cNvPr id="9" name="Text 7"/>
          <p:cNvSpPr/>
          <p:nvPr/>
        </p:nvSpPr>
        <p:spPr>
          <a:xfrm>
            <a:off x="1024128" y="370332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Why TCP and not just send?</a:t>
            </a:r>
            <a:endParaRPr lang="en-US" sz="1550" dirty="0"/>
          </a:p>
        </p:txBody>
      </p:sp>
      <p:sp>
        <p:nvSpPr>
          <p:cNvPr id="10" name="Text 8"/>
          <p:cNvSpPr/>
          <p:nvPr/>
        </p:nvSpPr>
        <p:spPr>
          <a:xfrm>
            <a:off x="1024128" y="404164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TCP guarantees delivery and order. Packets that get lost are re-sent; out-of-order packets are reassembled.</a:t>
            </a:r>
            <a:endParaRPr lang="en-US" sz="1250" dirty="0"/>
          </a:p>
        </p:txBody>
      </p:sp>
      <p:sp>
        <p:nvSpPr>
          <p:cNvPr id="11" name="Shape 9"/>
          <p:cNvSpPr/>
          <p:nvPr/>
        </p:nvSpPr>
        <p:spPr>
          <a:xfrm>
            <a:off x="658368" y="4654296"/>
            <a:ext cx="237744" cy="237744"/>
          </a:xfrm>
          <a:prstGeom prst="ellipse">
            <a:avLst/>
          </a:prstGeom>
          <a:solidFill>
            <a:srgbClr val="C0603A"/>
          </a:solidFill>
          <a:ln/>
        </p:spPr>
      </p:sp>
      <p:sp>
        <p:nvSpPr>
          <p:cNvPr id="12" name="Text 10"/>
          <p:cNvSpPr/>
          <p:nvPr/>
        </p:nvSpPr>
        <p:spPr>
          <a:xfrm>
            <a:off x="1024128" y="457200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The cost: round trips</a:t>
            </a:r>
            <a:endParaRPr lang="en-US" sz="1550" dirty="0"/>
          </a:p>
        </p:txBody>
      </p:sp>
      <p:sp>
        <p:nvSpPr>
          <p:cNvPr id="13" name="Text 11"/>
          <p:cNvSpPr/>
          <p:nvPr/>
        </p:nvSpPr>
        <p:spPr>
          <a:xfrm>
            <a:off x="1024128" y="491032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That handshake is one full round trip before any page data moves. Latency, not bandwidth, is the enemy here.</a:t>
            </a:r>
            <a:endParaRPr lang="en-US" sz="1250" dirty="0"/>
          </a:p>
        </p:txBody>
      </p:sp>
      <p:sp>
        <p:nvSpPr>
          <p:cNvPr id="14" name="Shape 12"/>
          <p:cNvSpPr/>
          <p:nvPr/>
        </p:nvSpPr>
        <p:spPr>
          <a:xfrm>
            <a:off x="7086600" y="1783080"/>
            <a:ext cx="4480560" cy="4206240"/>
          </a:xfrm>
          <a:prstGeom prst="roundRect">
            <a:avLst>
              <a:gd name="adj" fmla="val 1304"/>
            </a:avLst>
          </a:prstGeom>
          <a:solidFill>
            <a:srgbClr val="2B2424"/>
          </a:solidFill>
          <a:ln/>
          <a:effectLst>
            <a:outerShdw sx="100000" sy="100000" kx="0" ky="0" algn="bl" rotWithShape="0" blurRad="88900" dist="38100" dir="5400000">
              <a:srgbClr val="000000">
                <a:alpha val="18000"/>
              </a:srgbClr>
            </a:outerShdw>
          </a:effectLst>
        </p:spPr>
      </p:sp>
      <p:sp>
        <p:nvSpPr>
          <p:cNvPr id="15" name="Text 13"/>
          <p:cNvSpPr/>
          <p:nvPr/>
        </p:nvSpPr>
        <p:spPr>
          <a:xfrm>
            <a:off x="7360920" y="1965960"/>
            <a:ext cx="3931920" cy="365760"/>
          </a:xfrm>
          <a:prstGeom prst="rect">
            <a:avLst/>
          </a:prstGeom>
          <a:noFill/>
          <a:ln/>
        </p:spPr>
        <p:txBody>
          <a:bodyPr wrap="square" lIns="0" tIns="0" rIns="0" bIns="0" rtlCol="0" anchor="ctr"/>
          <a:lstStyle/>
          <a:p>
            <a:pPr indent="0" marL="0">
              <a:buNone/>
            </a:pPr>
            <a:r>
              <a:rPr lang="en-US" sz="1200" b="1" spc="200" kern="0" dirty="0">
                <a:solidFill>
                  <a:srgbClr val="E0A93B"/>
                </a:solidFill>
                <a:latin typeface="Calibri" pitchFamily="34" charset="0"/>
                <a:ea typeface="Calibri" pitchFamily="34" charset="-122"/>
                <a:cs typeface="Calibri" pitchFamily="34" charset="-120"/>
              </a:rPr>
              <a:t>The handshake</a:t>
            </a:r>
            <a:endParaRPr lang="en-US" sz="1200" dirty="0"/>
          </a:p>
        </p:txBody>
      </p:sp>
      <p:sp>
        <p:nvSpPr>
          <p:cNvPr id="16" name="Text 14"/>
          <p:cNvSpPr/>
          <p:nvPr/>
        </p:nvSpPr>
        <p:spPr>
          <a:xfrm>
            <a:off x="7360920" y="2377440"/>
            <a:ext cx="3977640" cy="3474720"/>
          </a:xfrm>
          <a:prstGeom prst="rect">
            <a:avLst/>
          </a:prstGeom>
          <a:noFill/>
          <a:ln/>
        </p:spPr>
        <p:txBody>
          <a:bodyPr wrap="square" lIns="0" tIns="0" rIns="0" bIns="0" rtlCol="0" anchor="t"/>
          <a:lstStyle/>
          <a:p>
            <a:pPr indent="0" marL="0">
              <a:lnSpc>
                <a:spcPct val="110000"/>
              </a:lnSpc>
              <a:buNone/>
            </a:pPr>
            <a:r>
              <a:rPr lang="en-US" sz="1200" dirty="0">
                <a:solidFill>
                  <a:srgbClr val="E0A93B"/>
                </a:solidFill>
                <a:latin typeface="Courier New" pitchFamily="34" charset="0"/>
                <a:ea typeface="Courier New" pitchFamily="34" charset="-122"/>
                <a:cs typeface="Courier New" pitchFamily="34" charset="-120"/>
              </a:rPr>
              <a:t>CLIENT            SERVER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  | --- SYN ------&gt; |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  | &lt;-- SYN-ACK --- |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  | --- ACK ------&gt; |
</a:t>
            </a:r>
            <a:endParaRPr lang="en-US" sz="1200" dirty="0"/>
          </a:p>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  connection open
</a:t>
            </a:r>
            <a:endParaRPr lang="en-US" sz="1200" dirty="0"/>
          </a:p>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  data can flow now</a:t>
            </a:r>
            <a:endParaRPr lang="en-US" sz="1200" dirty="0"/>
          </a:p>
        </p:txBody>
      </p:sp>
      <p:sp>
        <p:nvSpPr>
          <p:cNvPr id="17" name="Text 15"/>
          <p:cNvSpPr/>
          <p:nvPr/>
        </p:nvSpPr>
        <p:spPr>
          <a:xfrm>
            <a:off x="640080" y="5989320"/>
            <a:ext cx="6400800" cy="411480"/>
          </a:xfrm>
          <a:prstGeom prst="rect">
            <a:avLst/>
          </a:prstGeom>
          <a:noFill/>
          <a:ln/>
        </p:spPr>
        <p:txBody>
          <a:bodyPr wrap="square" lIns="0" tIns="0" rIns="0" bIns="0" rtlCol="0" anchor="ctr"/>
          <a:lstStyle/>
          <a:p>
            <a:pPr indent="0" marL="0">
              <a:buNone/>
            </a:pPr>
            <a:r>
              <a:rPr lang="en-US" sz="1200" i="1" dirty="0">
                <a:solidFill>
                  <a:srgbClr val="6E6463"/>
                </a:solidFill>
                <a:latin typeface="Calibri" pitchFamily="34" charset="0"/>
                <a:ea typeface="Calibri" pitchFamily="34" charset="-122"/>
                <a:cs typeface="Calibri" pitchFamily="34" charset="-120"/>
              </a:rPr>
              <a:t>Three steps. One round trip. Multiply that by network distance and you feel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STAGE 3 OF 5  •  TLS / HTTPS</a:t>
            </a:r>
            <a:endParaRPr lang="en-US" sz="1300" dirty="0"/>
          </a:p>
        </p:txBody>
      </p:sp>
      <p:sp>
        <p:nvSpPr>
          <p:cNvPr id="3" name="Text 1"/>
          <p:cNvSpPr/>
          <p:nvPr/>
        </p:nvSpPr>
        <p:spPr>
          <a:xfrm>
            <a:off x="640080" y="713232"/>
            <a:ext cx="658368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Making it private (the S in HTTPS)</a:t>
            </a:r>
            <a:endParaRPr lang="en-US" sz="3000" dirty="0"/>
          </a:p>
        </p:txBody>
      </p:sp>
      <p:sp>
        <p:nvSpPr>
          <p:cNvPr id="4" name="Text 2"/>
          <p:cNvSpPr/>
          <p:nvPr/>
        </p:nvSpPr>
        <p:spPr>
          <a:xfrm>
            <a:off x="640080" y="1783080"/>
            <a:ext cx="5852160" cy="1005840"/>
          </a:xfrm>
          <a:prstGeom prst="rect">
            <a:avLst/>
          </a:prstGeom>
          <a:noFill/>
          <a:ln/>
        </p:spPr>
        <p:txBody>
          <a:bodyPr wrap="square" lIns="0" tIns="0" rIns="0" bIns="0" rtlCol="0" anchor="ctr"/>
          <a:lstStyle/>
          <a:p>
            <a:pPr indent="0" marL="0">
              <a:lnSpc>
                <a:spcPct val="120000"/>
              </a:lnSpc>
              <a:buNone/>
            </a:pPr>
            <a:r>
              <a:rPr lang="en-US" sz="1550" dirty="0">
                <a:solidFill>
                  <a:srgbClr val="201A1B"/>
                </a:solidFill>
                <a:latin typeface="Calibri" pitchFamily="34" charset="0"/>
                <a:ea typeface="Calibri" pitchFamily="34" charset="-122"/>
                <a:cs typeface="Calibri" pitchFamily="34" charset="-120"/>
              </a:rPr>
              <a:t>The pipe is open, but anyone on the path could read it. TLS adds encryption. This is why the address bar shows a padlock and says https, not http.</a:t>
            </a:r>
            <a:endParaRPr lang="en-US" sz="1550" dirty="0"/>
          </a:p>
        </p:txBody>
      </p:sp>
      <p:sp>
        <p:nvSpPr>
          <p:cNvPr id="5" name="Shape 3"/>
          <p:cNvSpPr/>
          <p:nvPr/>
        </p:nvSpPr>
        <p:spPr>
          <a:xfrm>
            <a:off x="658368" y="2916936"/>
            <a:ext cx="237744" cy="237744"/>
          </a:xfrm>
          <a:prstGeom prst="ellipse">
            <a:avLst/>
          </a:prstGeom>
          <a:solidFill>
            <a:srgbClr val="C0603A"/>
          </a:solidFill>
          <a:ln/>
        </p:spPr>
      </p:sp>
      <p:sp>
        <p:nvSpPr>
          <p:cNvPr id="6" name="Text 4"/>
          <p:cNvSpPr/>
          <p:nvPr/>
        </p:nvSpPr>
        <p:spPr>
          <a:xfrm>
            <a:off x="1024128" y="283464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A second handshake</a:t>
            </a:r>
            <a:endParaRPr lang="en-US" sz="1550" dirty="0"/>
          </a:p>
        </p:txBody>
      </p:sp>
      <p:sp>
        <p:nvSpPr>
          <p:cNvPr id="7" name="Text 5"/>
          <p:cNvSpPr/>
          <p:nvPr/>
        </p:nvSpPr>
        <p:spPr>
          <a:xfrm>
            <a:off x="1024128" y="317296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Client and server exchange certificates and agree on encryption keys before any real request.</a:t>
            </a:r>
            <a:endParaRPr lang="en-US" sz="1250" dirty="0"/>
          </a:p>
        </p:txBody>
      </p:sp>
      <p:sp>
        <p:nvSpPr>
          <p:cNvPr id="8" name="Shape 6"/>
          <p:cNvSpPr/>
          <p:nvPr/>
        </p:nvSpPr>
        <p:spPr>
          <a:xfrm>
            <a:off x="658368" y="3785616"/>
            <a:ext cx="237744" cy="237744"/>
          </a:xfrm>
          <a:prstGeom prst="ellipse">
            <a:avLst/>
          </a:prstGeom>
          <a:solidFill>
            <a:srgbClr val="C0603A"/>
          </a:solidFill>
          <a:ln/>
        </p:spPr>
      </p:sp>
      <p:sp>
        <p:nvSpPr>
          <p:cNvPr id="9" name="Text 7"/>
          <p:cNvSpPr/>
          <p:nvPr/>
        </p:nvSpPr>
        <p:spPr>
          <a:xfrm>
            <a:off x="1024128" y="370332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The certificate proves identity</a:t>
            </a:r>
            <a:endParaRPr lang="en-US" sz="1550" dirty="0"/>
          </a:p>
        </p:txBody>
      </p:sp>
      <p:sp>
        <p:nvSpPr>
          <p:cNvPr id="10" name="Text 8"/>
          <p:cNvSpPr/>
          <p:nvPr/>
        </p:nvSpPr>
        <p:spPr>
          <a:xfrm>
            <a:off x="1024128" y="404164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A trusted authority vouches that this server really is shorterloop.com, not an imposter.</a:t>
            </a:r>
            <a:endParaRPr lang="en-US" sz="1250" dirty="0"/>
          </a:p>
        </p:txBody>
      </p:sp>
      <p:sp>
        <p:nvSpPr>
          <p:cNvPr id="11" name="Shape 9"/>
          <p:cNvSpPr/>
          <p:nvPr/>
        </p:nvSpPr>
        <p:spPr>
          <a:xfrm>
            <a:off x="658368" y="4654296"/>
            <a:ext cx="237744" cy="237744"/>
          </a:xfrm>
          <a:prstGeom prst="ellipse">
            <a:avLst/>
          </a:prstGeom>
          <a:solidFill>
            <a:srgbClr val="C0603A"/>
          </a:solidFill>
          <a:ln/>
        </p:spPr>
      </p:sp>
      <p:sp>
        <p:nvSpPr>
          <p:cNvPr id="12" name="Text 10"/>
          <p:cNvSpPr/>
          <p:nvPr/>
        </p:nvSpPr>
        <p:spPr>
          <a:xfrm>
            <a:off x="1024128" y="457200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Asymmetric, then symmetric</a:t>
            </a:r>
            <a:endParaRPr lang="en-US" sz="1550" dirty="0"/>
          </a:p>
        </p:txBody>
      </p:sp>
      <p:sp>
        <p:nvSpPr>
          <p:cNvPr id="13" name="Text 11"/>
          <p:cNvSpPr/>
          <p:nvPr/>
        </p:nvSpPr>
        <p:spPr>
          <a:xfrm>
            <a:off x="1024128" y="491032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Slow public-key crypto sets up a fast shared key. Best of both: secure setup, fast traffic.</a:t>
            </a:r>
            <a:endParaRPr lang="en-US" sz="1250" dirty="0"/>
          </a:p>
        </p:txBody>
      </p:sp>
      <p:sp>
        <p:nvSpPr>
          <p:cNvPr id="14" name="Shape 12"/>
          <p:cNvSpPr/>
          <p:nvPr/>
        </p:nvSpPr>
        <p:spPr>
          <a:xfrm>
            <a:off x="7086600" y="1783080"/>
            <a:ext cx="4480560" cy="4206240"/>
          </a:xfrm>
          <a:prstGeom prst="roundRect">
            <a:avLst>
              <a:gd name="adj" fmla="val 1304"/>
            </a:avLst>
          </a:prstGeom>
          <a:solidFill>
            <a:srgbClr val="2B2424"/>
          </a:solidFill>
          <a:ln/>
          <a:effectLst>
            <a:outerShdw sx="100000" sy="100000" kx="0" ky="0" algn="bl" rotWithShape="0" blurRad="88900" dist="38100" dir="5400000">
              <a:srgbClr val="000000">
                <a:alpha val="18000"/>
              </a:srgbClr>
            </a:outerShdw>
          </a:effectLst>
        </p:spPr>
      </p:sp>
      <p:sp>
        <p:nvSpPr>
          <p:cNvPr id="15" name="Text 13"/>
          <p:cNvSpPr/>
          <p:nvPr/>
        </p:nvSpPr>
        <p:spPr>
          <a:xfrm>
            <a:off x="7360920" y="1965960"/>
            <a:ext cx="3931920" cy="365760"/>
          </a:xfrm>
          <a:prstGeom prst="rect">
            <a:avLst/>
          </a:prstGeom>
          <a:noFill/>
          <a:ln/>
        </p:spPr>
        <p:txBody>
          <a:bodyPr wrap="square" lIns="0" tIns="0" rIns="0" bIns="0" rtlCol="0" anchor="ctr"/>
          <a:lstStyle/>
          <a:p>
            <a:pPr indent="0" marL="0">
              <a:buNone/>
            </a:pPr>
            <a:r>
              <a:rPr lang="en-US" sz="1200" b="1" spc="200" kern="0" dirty="0">
                <a:solidFill>
                  <a:srgbClr val="E0A93B"/>
                </a:solidFill>
                <a:latin typeface="Calibri" pitchFamily="34" charset="0"/>
                <a:ea typeface="Calibri" pitchFamily="34" charset="-122"/>
                <a:cs typeface="Calibri" pitchFamily="34" charset="-120"/>
              </a:rPr>
              <a:t>What the padlock means</a:t>
            </a:r>
            <a:endParaRPr lang="en-US" sz="1200" dirty="0"/>
          </a:p>
        </p:txBody>
      </p:sp>
      <p:sp>
        <p:nvSpPr>
          <p:cNvPr id="16" name="Text 14"/>
          <p:cNvSpPr/>
          <p:nvPr/>
        </p:nvSpPr>
        <p:spPr>
          <a:xfrm>
            <a:off x="7360920" y="2377440"/>
            <a:ext cx="3977640" cy="3474720"/>
          </a:xfrm>
          <a:prstGeom prst="rect">
            <a:avLst/>
          </a:prstGeom>
          <a:noFill/>
          <a:ln/>
        </p:spPr>
        <p:txBody>
          <a:bodyPr wrap="square" lIns="0" tIns="0" rIns="0" bIns="0" rtlCol="0" anchor="t"/>
          <a:lstStyle/>
          <a:p>
            <a:pPr indent="0" marL="0">
              <a:lnSpc>
                <a:spcPct val="110000"/>
              </a:lnSpc>
              <a:buNone/>
            </a:pPr>
            <a:r>
              <a:rPr lang="en-US" sz="1200" dirty="0">
                <a:solidFill>
                  <a:srgbClr val="E58A8A"/>
                </a:solidFill>
                <a:latin typeface="Courier New" pitchFamily="34" charset="0"/>
                <a:ea typeface="Courier New" pitchFamily="34" charset="-122"/>
                <a:cs typeface="Courier New" pitchFamily="34" charset="-120"/>
              </a:rPr>
              <a:t>http://  → plain text
</a:t>
            </a:r>
            <a:endParaRPr lang="en-US" sz="1200" dirty="0"/>
          </a:p>
          <a:p>
            <a:pPr indent="0" marL="0">
              <a:lnSpc>
                <a:spcPct val="110000"/>
              </a:lnSpc>
              <a:buNone/>
            </a:pPr>
            <a:r>
              <a:rPr lang="en-US" sz="1200" dirty="0">
                <a:solidFill>
                  <a:srgbClr val="C0603A"/>
                </a:solidFill>
                <a:latin typeface="Courier New" pitchFamily="34" charset="0"/>
                <a:ea typeface="Courier New" pitchFamily="34" charset="-122"/>
                <a:cs typeface="Courier New" pitchFamily="34" charset="-120"/>
              </a:rPr>
              <a:t>  anyone can read it
</a:t>
            </a:r>
            <a:endParaRPr lang="en-US" sz="1200" dirty="0"/>
          </a:p>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https:// → encrypted
</a:t>
            </a:r>
            <a:endParaRPr lang="en-US" sz="1200" dirty="0"/>
          </a:p>
          <a:p>
            <a:pPr indent="0" marL="0">
              <a:lnSpc>
                <a:spcPct val="110000"/>
              </a:lnSpc>
              <a:buNone/>
            </a:pPr>
            <a:r>
              <a:rPr lang="en-US" sz="1200" dirty="0">
                <a:solidFill>
                  <a:srgbClr val="C0603A"/>
                </a:solidFill>
                <a:latin typeface="Courier New" pitchFamily="34" charset="0"/>
                <a:ea typeface="Courier New" pitchFamily="34" charset="-122"/>
                <a:cs typeface="Courier New" pitchFamily="34" charset="-120"/>
              </a:rPr>
              <a:t>  scrambled in transit
</a:t>
            </a:r>
            <a:endParaRPr lang="en-US" sz="1200" dirty="0"/>
          </a:p>
          <a:p>
            <a:pPr indent="0" marL="0">
              <a:lnSpc>
                <a:spcPct val="110000"/>
              </a:lnSpc>
              <a:buNone/>
            </a:pPr>
            <a:r>
              <a:rPr lang="en-US" sz="1200" dirty="0">
                <a:solidFill>
                  <a:srgbClr val="E0A93B"/>
                </a:solidFill>
                <a:latin typeface="Courier New" pitchFamily="34" charset="0"/>
                <a:ea typeface="Courier New" pitchFamily="34" charset="-122"/>
                <a:cs typeface="Courier New" pitchFamily="34" charset="-120"/>
              </a:rPr>
              <a:t>Certificate: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  CN = shorterloop.com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  Issued by: a CA
</a:t>
            </a:r>
            <a:endParaRPr lang="en-US" sz="1200" dirty="0"/>
          </a:p>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  Valid: yes ✓</a:t>
            </a:r>
            <a:endParaRPr lang="en-US" sz="1200" dirty="0"/>
          </a:p>
        </p:txBody>
      </p:sp>
      <p:sp>
        <p:nvSpPr>
          <p:cNvPr id="17" name="Text 15"/>
          <p:cNvSpPr/>
          <p:nvPr/>
        </p:nvSpPr>
        <p:spPr>
          <a:xfrm>
            <a:off x="640080" y="5989320"/>
            <a:ext cx="6400800" cy="411480"/>
          </a:xfrm>
          <a:prstGeom prst="rect">
            <a:avLst/>
          </a:prstGeom>
          <a:noFill/>
          <a:ln/>
        </p:spPr>
        <p:txBody>
          <a:bodyPr wrap="square" lIns="0" tIns="0" rIns="0" bIns="0" rtlCol="0" anchor="ctr"/>
          <a:lstStyle/>
          <a:p>
            <a:pPr indent="0" marL="0">
              <a:buNone/>
            </a:pPr>
            <a:r>
              <a:rPr lang="en-US" sz="1200" i="1" dirty="0">
                <a:solidFill>
                  <a:srgbClr val="6E6463"/>
                </a:solidFill>
                <a:latin typeface="Calibri" pitchFamily="34" charset="0"/>
                <a:ea typeface="Calibri" pitchFamily="34" charset="-122"/>
                <a:cs typeface="Calibri" pitchFamily="34" charset="-120"/>
              </a:rPr>
              <a:t>Deep cut: TLS 1.3 cut the handshake down to roughly one round trip. Speed and security improved together.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STAGE 4 OF 5  •  HTTP</a:t>
            </a:r>
            <a:endParaRPr lang="en-US" sz="1300" dirty="0"/>
          </a:p>
        </p:txBody>
      </p:sp>
      <p:sp>
        <p:nvSpPr>
          <p:cNvPr id="3" name="Text 1"/>
          <p:cNvSpPr/>
          <p:nvPr/>
        </p:nvSpPr>
        <p:spPr>
          <a:xfrm>
            <a:off x="640080" y="713232"/>
            <a:ext cx="658368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The ask and the answer</a:t>
            </a:r>
            <a:endParaRPr lang="en-US" sz="3000" dirty="0"/>
          </a:p>
        </p:txBody>
      </p:sp>
      <p:sp>
        <p:nvSpPr>
          <p:cNvPr id="4" name="Text 2"/>
          <p:cNvSpPr/>
          <p:nvPr/>
        </p:nvSpPr>
        <p:spPr>
          <a:xfrm>
            <a:off x="640080" y="1783080"/>
            <a:ext cx="5852160" cy="1005840"/>
          </a:xfrm>
          <a:prstGeom prst="rect">
            <a:avLst/>
          </a:prstGeom>
          <a:noFill/>
          <a:ln/>
        </p:spPr>
        <p:txBody>
          <a:bodyPr wrap="square" lIns="0" tIns="0" rIns="0" bIns="0" rtlCol="0" anchor="ctr"/>
          <a:lstStyle/>
          <a:p>
            <a:pPr indent="0" marL="0">
              <a:lnSpc>
                <a:spcPct val="120000"/>
              </a:lnSpc>
              <a:buNone/>
            </a:pPr>
            <a:r>
              <a:rPr lang="en-US" sz="1550" dirty="0">
                <a:solidFill>
                  <a:srgbClr val="201A1B"/>
                </a:solidFill>
                <a:latin typeface="Calibri" pitchFamily="34" charset="0"/>
                <a:ea typeface="Calibri" pitchFamily="34" charset="-122"/>
                <a:cs typeface="Calibri" pitchFamily="34" charset="-120"/>
              </a:rPr>
              <a:t>Finally we send a real request. HTTP is just structured text: a method, a path, some headers. The server sends back a status code, headers, and the body (your HTML).</a:t>
            </a:r>
            <a:endParaRPr lang="en-US" sz="1550" dirty="0"/>
          </a:p>
        </p:txBody>
      </p:sp>
      <p:sp>
        <p:nvSpPr>
          <p:cNvPr id="5" name="Shape 3"/>
          <p:cNvSpPr/>
          <p:nvPr/>
        </p:nvSpPr>
        <p:spPr>
          <a:xfrm>
            <a:off x="658368" y="2916936"/>
            <a:ext cx="237744" cy="237744"/>
          </a:xfrm>
          <a:prstGeom prst="ellipse">
            <a:avLst/>
          </a:prstGeom>
          <a:solidFill>
            <a:srgbClr val="C0603A"/>
          </a:solidFill>
          <a:ln/>
        </p:spPr>
      </p:sp>
      <p:sp>
        <p:nvSpPr>
          <p:cNvPr id="6" name="Text 4"/>
          <p:cNvSpPr/>
          <p:nvPr/>
        </p:nvSpPr>
        <p:spPr>
          <a:xfrm>
            <a:off x="1024128" y="283464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Methods say what you want</a:t>
            </a:r>
            <a:endParaRPr lang="en-US" sz="1550" dirty="0"/>
          </a:p>
        </p:txBody>
      </p:sp>
      <p:sp>
        <p:nvSpPr>
          <p:cNvPr id="7" name="Text 5"/>
          <p:cNvSpPr/>
          <p:nvPr/>
        </p:nvSpPr>
        <p:spPr>
          <a:xfrm>
            <a:off x="1024128" y="317296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GET to read, POST to create, PUT to update, DELETE to remove. You'll use these all course.</a:t>
            </a:r>
            <a:endParaRPr lang="en-US" sz="1250" dirty="0"/>
          </a:p>
        </p:txBody>
      </p:sp>
      <p:sp>
        <p:nvSpPr>
          <p:cNvPr id="8" name="Shape 6"/>
          <p:cNvSpPr/>
          <p:nvPr/>
        </p:nvSpPr>
        <p:spPr>
          <a:xfrm>
            <a:off x="658368" y="3785616"/>
            <a:ext cx="237744" cy="237744"/>
          </a:xfrm>
          <a:prstGeom prst="ellipse">
            <a:avLst/>
          </a:prstGeom>
          <a:solidFill>
            <a:srgbClr val="C0603A"/>
          </a:solidFill>
          <a:ln/>
        </p:spPr>
      </p:sp>
      <p:sp>
        <p:nvSpPr>
          <p:cNvPr id="9" name="Text 7"/>
          <p:cNvSpPr/>
          <p:nvPr/>
        </p:nvSpPr>
        <p:spPr>
          <a:xfrm>
            <a:off x="1024128" y="370332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Status codes say what happened</a:t>
            </a:r>
            <a:endParaRPr lang="en-US" sz="1550" dirty="0"/>
          </a:p>
        </p:txBody>
      </p:sp>
      <p:sp>
        <p:nvSpPr>
          <p:cNvPr id="10" name="Text 8"/>
          <p:cNvSpPr/>
          <p:nvPr/>
        </p:nvSpPr>
        <p:spPr>
          <a:xfrm>
            <a:off x="1024128" y="404164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200 ok, 301 moved, 404 not found, 500 server broke. Learn to read these on sight.</a:t>
            </a:r>
            <a:endParaRPr lang="en-US" sz="1250" dirty="0"/>
          </a:p>
        </p:txBody>
      </p:sp>
      <p:sp>
        <p:nvSpPr>
          <p:cNvPr id="11" name="Shape 9"/>
          <p:cNvSpPr/>
          <p:nvPr/>
        </p:nvSpPr>
        <p:spPr>
          <a:xfrm>
            <a:off x="658368" y="4654296"/>
            <a:ext cx="237744" cy="237744"/>
          </a:xfrm>
          <a:prstGeom prst="ellipse">
            <a:avLst/>
          </a:prstGeom>
          <a:solidFill>
            <a:srgbClr val="C0603A"/>
          </a:solidFill>
          <a:ln/>
        </p:spPr>
      </p:sp>
      <p:sp>
        <p:nvSpPr>
          <p:cNvPr id="12" name="Text 10"/>
          <p:cNvSpPr/>
          <p:nvPr/>
        </p:nvSpPr>
        <p:spPr>
          <a:xfrm>
            <a:off x="1024128" y="4572000"/>
            <a:ext cx="5486400" cy="347472"/>
          </a:xfrm>
          <a:prstGeom prst="rect">
            <a:avLst/>
          </a:prstGeom>
          <a:noFill/>
          <a:ln/>
        </p:spPr>
        <p:txBody>
          <a:bodyPr wrap="square" lIns="0" tIns="0" rIns="0" bIns="0" rtlCol="0" anchor="ctr"/>
          <a:lstStyle/>
          <a:p>
            <a:pPr indent="0" marL="0">
              <a:buNone/>
            </a:pPr>
            <a:r>
              <a:rPr lang="en-US" sz="1550" b="1" dirty="0">
                <a:solidFill>
                  <a:srgbClr val="5C1620"/>
                </a:solidFill>
                <a:latin typeface="Calibri" pitchFamily="34" charset="0"/>
                <a:ea typeface="Calibri" pitchFamily="34" charset="-122"/>
                <a:cs typeface="Calibri" pitchFamily="34" charset="-120"/>
              </a:rPr>
              <a:t>Headers carry the metadata</a:t>
            </a:r>
            <a:endParaRPr lang="en-US" sz="1550" dirty="0"/>
          </a:p>
        </p:txBody>
      </p:sp>
      <p:sp>
        <p:nvSpPr>
          <p:cNvPr id="13" name="Text 11"/>
          <p:cNvSpPr/>
          <p:nvPr/>
        </p:nvSpPr>
        <p:spPr>
          <a:xfrm>
            <a:off x="1024128" y="4910328"/>
            <a:ext cx="5486400" cy="50292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Content type, caching rules, cookies, auth tokens. The body is the payload; headers are the label.</a:t>
            </a:r>
            <a:endParaRPr lang="en-US" sz="1250" dirty="0"/>
          </a:p>
        </p:txBody>
      </p:sp>
      <p:sp>
        <p:nvSpPr>
          <p:cNvPr id="14" name="Shape 12"/>
          <p:cNvSpPr/>
          <p:nvPr/>
        </p:nvSpPr>
        <p:spPr>
          <a:xfrm>
            <a:off x="7086600" y="1783080"/>
            <a:ext cx="4480560" cy="4206240"/>
          </a:xfrm>
          <a:prstGeom prst="roundRect">
            <a:avLst>
              <a:gd name="adj" fmla="val 1304"/>
            </a:avLst>
          </a:prstGeom>
          <a:solidFill>
            <a:srgbClr val="2B2424"/>
          </a:solidFill>
          <a:ln/>
          <a:effectLst>
            <a:outerShdw sx="100000" sy="100000" kx="0" ky="0" algn="bl" rotWithShape="0" blurRad="88900" dist="38100" dir="5400000">
              <a:srgbClr val="000000">
                <a:alpha val="18000"/>
              </a:srgbClr>
            </a:outerShdw>
          </a:effectLst>
        </p:spPr>
      </p:sp>
      <p:sp>
        <p:nvSpPr>
          <p:cNvPr id="15" name="Text 13"/>
          <p:cNvSpPr/>
          <p:nvPr/>
        </p:nvSpPr>
        <p:spPr>
          <a:xfrm>
            <a:off x="7360920" y="1965960"/>
            <a:ext cx="3931920" cy="365760"/>
          </a:xfrm>
          <a:prstGeom prst="rect">
            <a:avLst/>
          </a:prstGeom>
          <a:noFill/>
          <a:ln/>
        </p:spPr>
        <p:txBody>
          <a:bodyPr wrap="square" lIns="0" tIns="0" rIns="0" bIns="0" rtlCol="0" anchor="ctr"/>
          <a:lstStyle/>
          <a:p>
            <a:pPr indent="0" marL="0">
              <a:buNone/>
            </a:pPr>
            <a:r>
              <a:rPr lang="en-US" sz="1200" b="1" spc="200" kern="0" dirty="0">
                <a:solidFill>
                  <a:srgbClr val="E0A93B"/>
                </a:solidFill>
                <a:latin typeface="Calibri" pitchFamily="34" charset="0"/>
                <a:ea typeface="Calibri" pitchFamily="34" charset="-122"/>
                <a:cs typeface="Calibri" pitchFamily="34" charset="-120"/>
              </a:rPr>
              <a:t>A real exchange</a:t>
            </a:r>
            <a:endParaRPr lang="en-US" sz="1200" dirty="0"/>
          </a:p>
        </p:txBody>
      </p:sp>
      <p:sp>
        <p:nvSpPr>
          <p:cNvPr id="16" name="Text 14"/>
          <p:cNvSpPr/>
          <p:nvPr/>
        </p:nvSpPr>
        <p:spPr>
          <a:xfrm>
            <a:off x="7360920" y="2377440"/>
            <a:ext cx="3977640" cy="3474720"/>
          </a:xfrm>
          <a:prstGeom prst="rect">
            <a:avLst/>
          </a:prstGeom>
          <a:noFill/>
          <a:ln/>
        </p:spPr>
        <p:txBody>
          <a:bodyPr wrap="square" lIns="0" tIns="0" rIns="0" bIns="0" rtlCol="0" anchor="t"/>
          <a:lstStyle/>
          <a:p>
            <a:pPr indent="0" marL="0">
              <a:lnSpc>
                <a:spcPct val="110000"/>
              </a:lnSpc>
              <a:buNone/>
            </a:pPr>
            <a:r>
              <a:rPr lang="en-US" sz="1200" dirty="0">
                <a:solidFill>
                  <a:srgbClr val="9FE0A8"/>
                </a:solidFill>
                <a:latin typeface="Courier New" pitchFamily="34" charset="0"/>
                <a:ea typeface="Courier New" pitchFamily="34" charset="-122"/>
                <a:cs typeface="Courier New" pitchFamily="34" charset="-120"/>
              </a:rPr>
              <a:t>&gt; GET /index.html HTTP/1.1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&gt; Host: shorterloop.com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&gt; Accept: text/html
</a:t>
            </a:r>
            <a:endParaRPr lang="en-US" sz="1200" dirty="0"/>
          </a:p>
          <a:p>
            <a:pPr indent="0" marL="0">
              <a:lnSpc>
                <a:spcPct val="110000"/>
              </a:lnSpc>
              <a:buNone/>
            </a:pPr>
            <a:r>
              <a:rPr lang="en-US" sz="1200" dirty="0">
                <a:solidFill>
                  <a:srgbClr val="E0A93B"/>
                </a:solidFill>
                <a:latin typeface="Courier New" pitchFamily="34" charset="0"/>
                <a:ea typeface="Courier New" pitchFamily="34" charset="-122"/>
                <a:cs typeface="Courier New" pitchFamily="34" charset="-120"/>
              </a:rPr>
              <a:t>&lt; HTTP/1.1 200 OK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&lt; Content-Type: text/html
</a:t>
            </a:r>
            <a:endParaRPr lang="en-US" sz="1200" dirty="0"/>
          </a:p>
          <a:p>
            <a:pPr indent="0" marL="0">
              <a:lnSpc>
                <a:spcPct val="110000"/>
              </a:lnSpc>
              <a:buNone/>
            </a:pPr>
            <a:r>
              <a:rPr lang="en-US" sz="1200" dirty="0">
                <a:solidFill>
                  <a:srgbClr val="E8E2E2"/>
                </a:solidFill>
                <a:latin typeface="Courier New" pitchFamily="34" charset="0"/>
                <a:ea typeface="Courier New" pitchFamily="34" charset="-122"/>
                <a:cs typeface="Courier New" pitchFamily="34" charset="-120"/>
              </a:rPr>
              <a:t>&lt; Content-Length: 5120
</a:t>
            </a:r>
            <a:endParaRPr lang="en-US" sz="1200" dirty="0"/>
          </a:p>
          <a:p>
            <a:pPr indent="0" marL="0">
              <a:lnSpc>
                <a:spcPct val="110000"/>
              </a:lnSpc>
              <a:buNone/>
            </a:pPr>
            <a:r>
              <a:rPr lang="en-US" sz="1200" dirty="0">
                <a:solidFill>
                  <a:srgbClr val="C0603A"/>
                </a:solidFill>
                <a:latin typeface="Courier New" pitchFamily="34" charset="0"/>
                <a:ea typeface="Courier New" pitchFamily="34" charset="-122"/>
                <a:cs typeface="Courier New" pitchFamily="34" charset="-120"/>
              </a:rPr>
              <a:t>&lt; &lt;!DOCTYPE html&gt;
</a:t>
            </a:r>
            <a:endParaRPr lang="en-US" sz="1200" dirty="0"/>
          </a:p>
          <a:p>
            <a:pPr indent="0" marL="0">
              <a:lnSpc>
                <a:spcPct val="110000"/>
              </a:lnSpc>
              <a:buNone/>
            </a:pPr>
            <a:r>
              <a:rPr lang="en-US" sz="1200" dirty="0">
                <a:solidFill>
                  <a:srgbClr val="C0603A"/>
                </a:solidFill>
                <a:latin typeface="Courier New" pitchFamily="34" charset="0"/>
                <a:ea typeface="Courier New" pitchFamily="34" charset="-122"/>
                <a:cs typeface="Courier New" pitchFamily="34" charset="-120"/>
              </a:rPr>
              <a:t>&lt; &lt;html&gt; ... &lt;/html&gt;</a:t>
            </a:r>
            <a:endParaRPr lang="en-US" sz="1200" dirty="0"/>
          </a:p>
        </p:txBody>
      </p:sp>
      <p:sp>
        <p:nvSpPr>
          <p:cNvPr id="17" name="Text 15"/>
          <p:cNvSpPr/>
          <p:nvPr/>
        </p:nvSpPr>
        <p:spPr>
          <a:xfrm>
            <a:off x="640080" y="5989320"/>
            <a:ext cx="6400800" cy="411480"/>
          </a:xfrm>
          <a:prstGeom prst="rect">
            <a:avLst/>
          </a:prstGeom>
          <a:noFill/>
          <a:ln/>
        </p:spPr>
        <p:txBody>
          <a:bodyPr wrap="square" lIns="0" tIns="0" rIns="0" bIns="0" rtlCol="0" anchor="ctr"/>
          <a:lstStyle/>
          <a:p>
            <a:pPr indent="0" marL="0">
              <a:buNone/>
            </a:pPr>
            <a:r>
              <a:rPr lang="en-US" sz="1200" i="1" dirty="0">
                <a:solidFill>
                  <a:srgbClr val="6E6463"/>
                </a:solidFill>
                <a:latin typeface="Calibri" pitchFamily="34" charset="0"/>
                <a:ea typeface="Calibri" pitchFamily="34" charset="-122"/>
                <a:cs typeface="Calibri" pitchFamily="34" charset="-120"/>
              </a:rPr>
              <a:t>Open your browser's DevTools → Network tab and you can watch every one of these for real.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STAGE 5 OF 5  •  RENDER</a:t>
            </a:r>
            <a:endParaRPr lang="en-US" sz="1300" dirty="0"/>
          </a:p>
        </p:txBody>
      </p:sp>
      <p:sp>
        <p:nvSpPr>
          <p:cNvPr id="3" name="Text 1"/>
          <p:cNvSpPr/>
          <p:nvPr/>
        </p:nvSpPr>
        <p:spPr>
          <a:xfrm>
            <a:off x="640080" y="713232"/>
            <a:ext cx="1097280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How the browser turns code into pixels</a:t>
            </a:r>
            <a:endParaRPr lang="en-US" sz="3000" dirty="0"/>
          </a:p>
        </p:txBody>
      </p:sp>
      <p:sp>
        <p:nvSpPr>
          <p:cNvPr id="4" name="Text 2"/>
          <p:cNvSpPr/>
          <p:nvPr/>
        </p:nvSpPr>
        <p:spPr>
          <a:xfrm>
            <a:off x="640080" y="1737360"/>
            <a:ext cx="10972800" cy="731520"/>
          </a:xfrm>
          <a:prstGeom prst="rect">
            <a:avLst/>
          </a:prstGeom>
          <a:noFill/>
          <a:ln/>
        </p:spPr>
        <p:txBody>
          <a:bodyPr wrap="square" lIns="0" tIns="0" rIns="0" bIns="0" rtlCol="0" anchor="ctr"/>
          <a:lstStyle/>
          <a:p>
            <a:pPr indent="0" marL="0">
              <a:lnSpc>
                <a:spcPct val="120000"/>
              </a:lnSpc>
              <a:buNone/>
            </a:pPr>
            <a:r>
              <a:rPr lang="en-US" sz="1550" dirty="0">
                <a:solidFill>
                  <a:srgbClr val="201A1B"/>
                </a:solidFill>
                <a:latin typeface="Calibri" pitchFamily="34" charset="0"/>
                <a:ea typeface="Calibri" pitchFamily="34" charset="-122"/>
                <a:cs typeface="Calibri" pitchFamily="34" charset="-120"/>
              </a:rPr>
              <a:t>The HTML arrives as plain text. The browser now runs the critical rendering path to put it on screen. This pipeline is why page speed is an engineering problem, not magic.</a:t>
            </a:r>
            <a:endParaRPr lang="en-US" sz="1550" dirty="0"/>
          </a:p>
        </p:txBody>
      </p:sp>
      <p:sp>
        <p:nvSpPr>
          <p:cNvPr id="5" name="Shape 3"/>
          <p:cNvSpPr/>
          <p:nvPr/>
        </p:nvSpPr>
        <p:spPr>
          <a:xfrm>
            <a:off x="266548" y="2743200"/>
            <a:ext cx="2606040" cy="2743200"/>
          </a:xfrm>
          <a:prstGeom prst="roundRect">
            <a:avLst>
              <a:gd name="adj" fmla="val 2807"/>
            </a:avLst>
          </a:prstGeom>
          <a:solidFill>
            <a:srgbClr val="FFFFFF"/>
          </a:solidFill>
          <a:ln/>
          <a:effectLst>
            <a:outerShdw sx="100000" sy="100000" kx="0" ky="0" algn="bl" rotWithShape="0" blurRad="63500" dist="25400" dir="5400000">
              <a:srgbClr val="000000">
                <a:alpha val="10000"/>
              </a:srgbClr>
            </a:outerShdw>
          </a:effectLst>
        </p:spPr>
      </p:sp>
      <p:sp>
        <p:nvSpPr>
          <p:cNvPr id="6" name="Shape 4"/>
          <p:cNvSpPr/>
          <p:nvPr/>
        </p:nvSpPr>
        <p:spPr>
          <a:xfrm>
            <a:off x="1112368" y="3017520"/>
            <a:ext cx="914400" cy="914400"/>
          </a:xfrm>
          <a:prstGeom prst="ellipse">
            <a:avLst/>
          </a:prstGeom>
          <a:solidFill>
            <a:srgbClr val="5C1620"/>
          </a:solidFill>
          <a:ln/>
        </p:spPr>
      </p:sp>
      <p:pic>
        <p:nvPicPr>
          <p:cNvPr id="7" name="Image 0" descr="images/icon_file.png">    </p:cNvPr>
          <p:cNvPicPr>
            <a:picLocks noChangeAspect="1"/>
          </p:cNvPicPr>
          <p:nvPr/>
        </p:nvPicPr>
        <p:blipFill>
          <a:blip r:embed="rId1"/>
          <a:stretch>
            <a:fillRect/>
          </a:stretch>
        </p:blipFill>
        <p:spPr>
          <a:xfrm>
            <a:off x="1322680" y="3227832"/>
            <a:ext cx="493776" cy="493776"/>
          </a:xfrm>
          <a:prstGeom prst="rect">
            <a:avLst/>
          </a:prstGeom>
        </p:spPr>
      </p:pic>
      <p:sp>
        <p:nvSpPr>
          <p:cNvPr id="8" name="Text 5"/>
          <p:cNvSpPr/>
          <p:nvPr/>
        </p:nvSpPr>
        <p:spPr>
          <a:xfrm>
            <a:off x="403708" y="4069080"/>
            <a:ext cx="2331720" cy="365760"/>
          </a:xfrm>
          <a:prstGeom prst="rect">
            <a:avLst/>
          </a:prstGeom>
          <a:noFill/>
          <a:ln/>
        </p:spPr>
        <p:txBody>
          <a:bodyPr wrap="square" lIns="0" tIns="0" rIns="0" bIns="0" rtlCol="0" anchor="ctr"/>
          <a:lstStyle/>
          <a:p>
            <a:pPr algn="ctr" indent="0" marL="0">
              <a:buNone/>
            </a:pPr>
            <a:r>
              <a:rPr lang="en-US" sz="1650" b="1" dirty="0">
                <a:solidFill>
                  <a:srgbClr val="5C1620"/>
                </a:solidFill>
                <a:latin typeface="Calibri" pitchFamily="34" charset="0"/>
                <a:ea typeface="Calibri" pitchFamily="34" charset="-122"/>
                <a:cs typeface="Calibri" pitchFamily="34" charset="-120"/>
              </a:rPr>
              <a:t>1. Parse HTML</a:t>
            </a:r>
            <a:endParaRPr lang="en-US" sz="1650" dirty="0"/>
          </a:p>
        </p:txBody>
      </p:sp>
      <p:sp>
        <p:nvSpPr>
          <p:cNvPr id="9" name="Text 6"/>
          <p:cNvSpPr/>
          <p:nvPr/>
        </p:nvSpPr>
        <p:spPr>
          <a:xfrm>
            <a:off x="449428" y="4480560"/>
            <a:ext cx="2240280" cy="914400"/>
          </a:xfrm>
          <a:prstGeom prst="rect">
            <a:avLst/>
          </a:prstGeom>
          <a:noFill/>
          <a:ln/>
        </p:spPr>
        <p:txBody>
          <a:bodyPr wrap="square" lIns="0" tIns="0" rIns="0" bIns="0" rtlCol="0" anchor="t"/>
          <a:lstStyle/>
          <a:p>
            <a:pPr algn="ctr" indent="0" marL="0">
              <a:buNone/>
            </a:pPr>
            <a:r>
              <a:rPr lang="en-US" sz="1250" dirty="0">
                <a:solidFill>
                  <a:srgbClr val="6E6463"/>
                </a:solidFill>
                <a:latin typeface="Calibri" pitchFamily="34" charset="0"/>
                <a:ea typeface="Calibri" pitchFamily="34" charset="-122"/>
                <a:cs typeface="Calibri" pitchFamily="34" charset="-120"/>
              </a:rPr>
              <a:t>Build the DOM tree: the structure of every element on the page.</a:t>
            </a:r>
            <a:endParaRPr lang="en-US" sz="1250" dirty="0"/>
          </a:p>
        </p:txBody>
      </p:sp>
      <p:pic>
        <p:nvPicPr>
          <p:cNvPr id="10" name="Image 1" descr="images/icon_arrow_m.png">    </p:cNvPr>
          <p:cNvPicPr>
            <a:picLocks noChangeAspect="1"/>
          </p:cNvPicPr>
          <p:nvPr/>
        </p:nvPicPr>
        <p:blipFill>
          <a:blip r:embed="rId2"/>
          <a:stretch>
            <a:fillRect/>
          </a:stretch>
        </p:blipFill>
        <p:spPr>
          <a:xfrm>
            <a:off x="2936596" y="3931920"/>
            <a:ext cx="274320" cy="274320"/>
          </a:xfrm>
          <a:prstGeom prst="rect">
            <a:avLst/>
          </a:prstGeom>
        </p:spPr>
      </p:pic>
      <p:sp>
        <p:nvSpPr>
          <p:cNvPr id="11" name="Shape 7"/>
          <p:cNvSpPr/>
          <p:nvPr/>
        </p:nvSpPr>
        <p:spPr>
          <a:xfrm>
            <a:off x="3284068" y="2743200"/>
            <a:ext cx="2606040" cy="2743200"/>
          </a:xfrm>
          <a:prstGeom prst="roundRect">
            <a:avLst>
              <a:gd name="adj" fmla="val 2807"/>
            </a:avLst>
          </a:prstGeom>
          <a:solidFill>
            <a:srgbClr val="FFFFFF"/>
          </a:solidFill>
          <a:ln/>
          <a:effectLst>
            <a:outerShdw sx="100000" sy="100000" kx="0" ky="0" algn="bl" rotWithShape="0" blurRad="63500" dist="25400" dir="5400000">
              <a:srgbClr val="000000">
                <a:alpha val="10000"/>
              </a:srgbClr>
            </a:outerShdw>
          </a:effectLst>
        </p:spPr>
      </p:sp>
      <p:sp>
        <p:nvSpPr>
          <p:cNvPr id="12" name="Shape 8"/>
          <p:cNvSpPr/>
          <p:nvPr/>
        </p:nvSpPr>
        <p:spPr>
          <a:xfrm>
            <a:off x="4129888" y="3017520"/>
            <a:ext cx="914400" cy="914400"/>
          </a:xfrm>
          <a:prstGeom prst="ellipse">
            <a:avLst/>
          </a:prstGeom>
          <a:solidFill>
            <a:srgbClr val="5C1620"/>
          </a:solidFill>
          <a:ln/>
        </p:spPr>
      </p:sp>
      <p:pic>
        <p:nvPicPr>
          <p:cNvPr id="13" name="Image 2" descr="images/icon_paint.png">    </p:cNvPr>
          <p:cNvPicPr>
            <a:picLocks noChangeAspect="1"/>
          </p:cNvPicPr>
          <p:nvPr/>
        </p:nvPicPr>
        <p:blipFill>
          <a:blip r:embed="rId3"/>
          <a:stretch>
            <a:fillRect/>
          </a:stretch>
        </p:blipFill>
        <p:spPr>
          <a:xfrm>
            <a:off x="4340200" y="3227832"/>
            <a:ext cx="493776" cy="493776"/>
          </a:xfrm>
          <a:prstGeom prst="rect">
            <a:avLst/>
          </a:prstGeom>
        </p:spPr>
      </p:pic>
      <p:sp>
        <p:nvSpPr>
          <p:cNvPr id="14" name="Text 9"/>
          <p:cNvSpPr/>
          <p:nvPr/>
        </p:nvSpPr>
        <p:spPr>
          <a:xfrm>
            <a:off x="3421228" y="4069080"/>
            <a:ext cx="2331720" cy="365760"/>
          </a:xfrm>
          <a:prstGeom prst="rect">
            <a:avLst/>
          </a:prstGeom>
          <a:noFill/>
          <a:ln/>
        </p:spPr>
        <p:txBody>
          <a:bodyPr wrap="square" lIns="0" tIns="0" rIns="0" bIns="0" rtlCol="0" anchor="ctr"/>
          <a:lstStyle/>
          <a:p>
            <a:pPr algn="ctr" indent="0" marL="0">
              <a:buNone/>
            </a:pPr>
            <a:r>
              <a:rPr lang="en-US" sz="1650" b="1" dirty="0">
                <a:solidFill>
                  <a:srgbClr val="5C1620"/>
                </a:solidFill>
                <a:latin typeface="Calibri" pitchFamily="34" charset="0"/>
                <a:ea typeface="Calibri" pitchFamily="34" charset="-122"/>
                <a:cs typeface="Calibri" pitchFamily="34" charset="-120"/>
              </a:rPr>
              <a:t>2. Parse CSS</a:t>
            </a:r>
            <a:endParaRPr lang="en-US" sz="1650" dirty="0"/>
          </a:p>
        </p:txBody>
      </p:sp>
      <p:sp>
        <p:nvSpPr>
          <p:cNvPr id="15" name="Text 10"/>
          <p:cNvSpPr/>
          <p:nvPr/>
        </p:nvSpPr>
        <p:spPr>
          <a:xfrm>
            <a:off x="3466948" y="4480560"/>
            <a:ext cx="2240280" cy="914400"/>
          </a:xfrm>
          <a:prstGeom prst="rect">
            <a:avLst/>
          </a:prstGeom>
          <a:noFill/>
          <a:ln/>
        </p:spPr>
        <p:txBody>
          <a:bodyPr wrap="square" lIns="0" tIns="0" rIns="0" bIns="0" rtlCol="0" anchor="t"/>
          <a:lstStyle/>
          <a:p>
            <a:pPr algn="ctr" indent="0" marL="0">
              <a:buNone/>
            </a:pPr>
            <a:r>
              <a:rPr lang="en-US" sz="1250" dirty="0">
                <a:solidFill>
                  <a:srgbClr val="6E6463"/>
                </a:solidFill>
                <a:latin typeface="Calibri" pitchFamily="34" charset="0"/>
                <a:ea typeface="Calibri" pitchFamily="34" charset="-122"/>
                <a:cs typeface="Calibri" pitchFamily="34" charset="-120"/>
              </a:rPr>
              <a:t>Build the CSSOM: every style rule that applies to those elements.</a:t>
            </a:r>
            <a:endParaRPr lang="en-US" sz="1250" dirty="0"/>
          </a:p>
        </p:txBody>
      </p:sp>
      <p:pic>
        <p:nvPicPr>
          <p:cNvPr id="16" name="Image 3" descr="images/icon_arrow_m.png">    </p:cNvPr>
          <p:cNvPicPr>
            <a:picLocks noChangeAspect="1"/>
          </p:cNvPicPr>
          <p:nvPr/>
        </p:nvPicPr>
        <p:blipFill>
          <a:blip r:embed="rId4"/>
          <a:stretch>
            <a:fillRect/>
          </a:stretch>
        </p:blipFill>
        <p:spPr>
          <a:xfrm>
            <a:off x="5954116" y="3931920"/>
            <a:ext cx="274320" cy="274320"/>
          </a:xfrm>
          <a:prstGeom prst="rect">
            <a:avLst/>
          </a:prstGeom>
        </p:spPr>
      </p:pic>
      <p:sp>
        <p:nvSpPr>
          <p:cNvPr id="17" name="Shape 11"/>
          <p:cNvSpPr/>
          <p:nvPr/>
        </p:nvSpPr>
        <p:spPr>
          <a:xfrm>
            <a:off x="6301588" y="2743200"/>
            <a:ext cx="2606040" cy="2743200"/>
          </a:xfrm>
          <a:prstGeom prst="roundRect">
            <a:avLst>
              <a:gd name="adj" fmla="val 2807"/>
            </a:avLst>
          </a:prstGeom>
          <a:solidFill>
            <a:srgbClr val="FFFFFF"/>
          </a:solidFill>
          <a:ln/>
          <a:effectLst>
            <a:outerShdw sx="100000" sy="100000" kx="0" ky="0" algn="bl" rotWithShape="0" blurRad="63500" dist="25400" dir="5400000">
              <a:srgbClr val="000000">
                <a:alpha val="10000"/>
              </a:srgbClr>
            </a:outerShdw>
          </a:effectLst>
        </p:spPr>
      </p:sp>
      <p:sp>
        <p:nvSpPr>
          <p:cNvPr id="18" name="Shape 12"/>
          <p:cNvSpPr/>
          <p:nvPr/>
        </p:nvSpPr>
        <p:spPr>
          <a:xfrm>
            <a:off x="7147408" y="3017520"/>
            <a:ext cx="914400" cy="914400"/>
          </a:xfrm>
          <a:prstGeom prst="ellipse">
            <a:avLst/>
          </a:prstGeom>
          <a:solidFill>
            <a:srgbClr val="5C1620"/>
          </a:solidFill>
          <a:ln/>
        </p:spPr>
      </p:sp>
      <p:pic>
        <p:nvPicPr>
          <p:cNvPr id="19" name="Image 4" descr="images/icon_sitemap.png">    </p:cNvPr>
          <p:cNvPicPr>
            <a:picLocks noChangeAspect="1"/>
          </p:cNvPicPr>
          <p:nvPr/>
        </p:nvPicPr>
        <p:blipFill>
          <a:blip r:embed="rId5"/>
          <a:stretch>
            <a:fillRect/>
          </a:stretch>
        </p:blipFill>
        <p:spPr>
          <a:xfrm>
            <a:off x="7357720" y="3227832"/>
            <a:ext cx="493776" cy="493776"/>
          </a:xfrm>
          <a:prstGeom prst="rect">
            <a:avLst/>
          </a:prstGeom>
        </p:spPr>
      </p:pic>
      <p:sp>
        <p:nvSpPr>
          <p:cNvPr id="20" name="Text 13"/>
          <p:cNvSpPr/>
          <p:nvPr/>
        </p:nvSpPr>
        <p:spPr>
          <a:xfrm>
            <a:off x="6438748" y="4069080"/>
            <a:ext cx="2331720" cy="365760"/>
          </a:xfrm>
          <a:prstGeom prst="rect">
            <a:avLst/>
          </a:prstGeom>
          <a:noFill/>
          <a:ln/>
        </p:spPr>
        <p:txBody>
          <a:bodyPr wrap="square" lIns="0" tIns="0" rIns="0" bIns="0" rtlCol="0" anchor="ctr"/>
          <a:lstStyle/>
          <a:p>
            <a:pPr algn="ctr" indent="0" marL="0">
              <a:buNone/>
            </a:pPr>
            <a:r>
              <a:rPr lang="en-US" sz="1650" b="1" dirty="0">
                <a:solidFill>
                  <a:srgbClr val="5C1620"/>
                </a:solidFill>
                <a:latin typeface="Calibri" pitchFamily="34" charset="0"/>
                <a:ea typeface="Calibri" pitchFamily="34" charset="-122"/>
                <a:cs typeface="Calibri" pitchFamily="34" charset="-120"/>
              </a:rPr>
              <a:t>3. Layout</a:t>
            </a:r>
            <a:endParaRPr lang="en-US" sz="1650" dirty="0"/>
          </a:p>
        </p:txBody>
      </p:sp>
      <p:sp>
        <p:nvSpPr>
          <p:cNvPr id="21" name="Text 14"/>
          <p:cNvSpPr/>
          <p:nvPr/>
        </p:nvSpPr>
        <p:spPr>
          <a:xfrm>
            <a:off x="6484468" y="4480560"/>
            <a:ext cx="2240280" cy="914400"/>
          </a:xfrm>
          <a:prstGeom prst="rect">
            <a:avLst/>
          </a:prstGeom>
          <a:noFill/>
          <a:ln/>
        </p:spPr>
        <p:txBody>
          <a:bodyPr wrap="square" lIns="0" tIns="0" rIns="0" bIns="0" rtlCol="0" anchor="t"/>
          <a:lstStyle/>
          <a:p>
            <a:pPr algn="ctr" indent="0" marL="0">
              <a:buNone/>
            </a:pPr>
            <a:r>
              <a:rPr lang="en-US" sz="1250" dirty="0">
                <a:solidFill>
                  <a:srgbClr val="6E6463"/>
                </a:solidFill>
                <a:latin typeface="Calibri" pitchFamily="34" charset="0"/>
                <a:ea typeface="Calibri" pitchFamily="34" charset="-122"/>
                <a:cs typeface="Calibri" pitchFamily="34" charset="-120"/>
              </a:rPr>
              <a:t>Combine the two, then calculate where every box sits and how big it is.</a:t>
            </a:r>
            <a:endParaRPr lang="en-US" sz="1250" dirty="0"/>
          </a:p>
        </p:txBody>
      </p:sp>
      <p:pic>
        <p:nvPicPr>
          <p:cNvPr id="22" name="Image 5" descr="images/icon_arrow_m.png">    </p:cNvPr>
          <p:cNvPicPr>
            <a:picLocks noChangeAspect="1"/>
          </p:cNvPicPr>
          <p:nvPr/>
        </p:nvPicPr>
        <p:blipFill>
          <a:blip r:embed="rId6"/>
          <a:stretch>
            <a:fillRect/>
          </a:stretch>
        </p:blipFill>
        <p:spPr>
          <a:xfrm>
            <a:off x="8971636" y="3931920"/>
            <a:ext cx="274320" cy="274320"/>
          </a:xfrm>
          <a:prstGeom prst="rect">
            <a:avLst/>
          </a:prstGeom>
        </p:spPr>
      </p:pic>
      <p:sp>
        <p:nvSpPr>
          <p:cNvPr id="23" name="Shape 15"/>
          <p:cNvSpPr/>
          <p:nvPr/>
        </p:nvSpPr>
        <p:spPr>
          <a:xfrm>
            <a:off x="9319108" y="2743200"/>
            <a:ext cx="2606040" cy="2743200"/>
          </a:xfrm>
          <a:prstGeom prst="roundRect">
            <a:avLst>
              <a:gd name="adj" fmla="val 2807"/>
            </a:avLst>
          </a:prstGeom>
          <a:solidFill>
            <a:srgbClr val="FFFFFF"/>
          </a:solidFill>
          <a:ln/>
          <a:effectLst>
            <a:outerShdw sx="100000" sy="100000" kx="0" ky="0" algn="bl" rotWithShape="0" blurRad="63500" dist="25400" dir="5400000">
              <a:srgbClr val="000000">
                <a:alpha val="10000"/>
              </a:srgbClr>
            </a:outerShdw>
          </a:effectLst>
        </p:spPr>
      </p:sp>
      <p:sp>
        <p:nvSpPr>
          <p:cNvPr id="24" name="Shape 16"/>
          <p:cNvSpPr/>
          <p:nvPr/>
        </p:nvSpPr>
        <p:spPr>
          <a:xfrm>
            <a:off x="10164928" y="3017520"/>
            <a:ext cx="914400" cy="914400"/>
          </a:xfrm>
          <a:prstGeom prst="ellipse">
            <a:avLst/>
          </a:prstGeom>
          <a:solidFill>
            <a:srgbClr val="5C1620"/>
          </a:solidFill>
          <a:ln/>
        </p:spPr>
      </p:sp>
      <p:pic>
        <p:nvPicPr>
          <p:cNvPr id="25" name="Image 6" descr="images/icon_desktop.png">    </p:cNvPr>
          <p:cNvPicPr>
            <a:picLocks noChangeAspect="1"/>
          </p:cNvPicPr>
          <p:nvPr/>
        </p:nvPicPr>
        <p:blipFill>
          <a:blip r:embed="rId7"/>
          <a:stretch>
            <a:fillRect/>
          </a:stretch>
        </p:blipFill>
        <p:spPr>
          <a:xfrm>
            <a:off x="10375240" y="3227832"/>
            <a:ext cx="493776" cy="493776"/>
          </a:xfrm>
          <a:prstGeom prst="rect">
            <a:avLst/>
          </a:prstGeom>
        </p:spPr>
      </p:pic>
      <p:sp>
        <p:nvSpPr>
          <p:cNvPr id="26" name="Text 17"/>
          <p:cNvSpPr/>
          <p:nvPr/>
        </p:nvSpPr>
        <p:spPr>
          <a:xfrm>
            <a:off x="9456268" y="4069080"/>
            <a:ext cx="2331720" cy="365760"/>
          </a:xfrm>
          <a:prstGeom prst="rect">
            <a:avLst/>
          </a:prstGeom>
          <a:noFill/>
          <a:ln/>
        </p:spPr>
        <p:txBody>
          <a:bodyPr wrap="square" lIns="0" tIns="0" rIns="0" bIns="0" rtlCol="0" anchor="ctr"/>
          <a:lstStyle/>
          <a:p>
            <a:pPr algn="ctr" indent="0" marL="0">
              <a:buNone/>
            </a:pPr>
            <a:r>
              <a:rPr lang="en-US" sz="1650" b="1" dirty="0">
                <a:solidFill>
                  <a:srgbClr val="5C1620"/>
                </a:solidFill>
                <a:latin typeface="Calibri" pitchFamily="34" charset="0"/>
                <a:ea typeface="Calibri" pitchFamily="34" charset="-122"/>
                <a:cs typeface="Calibri" pitchFamily="34" charset="-120"/>
              </a:rPr>
              <a:t>4. Paint</a:t>
            </a:r>
            <a:endParaRPr lang="en-US" sz="1650" dirty="0"/>
          </a:p>
        </p:txBody>
      </p:sp>
      <p:sp>
        <p:nvSpPr>
          <p:cNvPr id="27" name="Text 18"/>
          <p:cNvSpPr/>
          <p:nvPr/>
        </p:nvSpPr>
        <p:spPr>
          <a:xfrm>
            <a:off x="9501988" y="4480560"/>
            <a:ext cx="2240280" cy="914400"/>
          </a:xfrm>
          <a:prstGeom prst="rect">
            <a:avLst/>
          </a:prstGeom>
          <a:noFill/>
          <a:ln/>
        </p:spPr>
        <p:txBody>
          <a:bodyPr wrap="square" lIns="0" tIns="0" rIns="0" bIns="0" rtlCol="0" anchor="t"/>
          <a:lstStyle/>
          <a:p>
            <a:pPr algn="ctr" indent="0" marL="0">
              <a:buNone/>
            </a:pPr>
            <a:r>
              <a:rPr lang="en-US" sz="1250" dirty="0">
                <a:solidFill>
                  <a:srgbClr val="6E6463"/>
                </a:solidFill>
                <a:latin typeface="Calibri" pitchFamily="34" charset="0"/>
                <a:ea typeface="Calibri" pitchFamily="34" charset="-122"/>
                <a:cs typeface="Calibri" pitchFamily="34" charset="-120"/>
              </a:rPr>
              <a:t>Fill in pixels: text, colors, images, borders, on the screen at last.</a:t>
            </a:r>
            <a:endParaRPr lang="en-US" sz="1250" dirty="0"/>
          </a:p>
        </p:txBody>
      </p:sp>
      <p:sp>
        <p:nvSpPr>
          <p:cNvPr id="28" name="Text 19"/>
          <p:cNvSpPr/>
          <p:nvPr/>
        </p:nvSpPr>
        <p:spPr>
          <a:xfrm>
            <a:off x="640080" y="5806440"/>
            <a:ext cx="10972800" cy="457200"/>
          </a:xfrm>
          <a:prstGeom prst="rect">
            <a:avLst/>
          </a:prstGeom>
          <a:noFill/>
          <a:ln/>
        </p:spPr>
        <p:txBody>
          <a:bodyPr wrap="square" lIns="0" tIns="0" rIns="0" bIns="0" rtlCol="0" anchor="ctr"/>
          <a:lstStyle/>
          <a:p>
            <a:pPr algn="ctr" indent="0" marL="0">
              <a:buNone/>
            </a:pPr>
            <a:r>
              <a:rPr lang="en-US" sz="1350" i="1" dirty="0">
                <a:solidFill>
                  <a:srgbClr val="6E6463"/>
                </a:solidFill>
                <a:latin typeface="Calibri" pitchFamily="34" charset="0"/>
                <a:ea typeface="Calibri" pitchFamily="34" charset="-122"/>
                <a:cs typeface="Calibri" pitchFamily="34" charset="-120"/>
              </a:rPr>
              <a:t>Heavy JavaScript can block this whole pipeline. That's why “it loads slow” is usually a render problem, not a network one.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THE CORE MENTAL MODEL</a:t>
            </a:r>
            <a:endParaRPr lang="en-US" sz="1300" dirty="0"/>
          </a:p>
        </p:txBody>
      </p:sp>
      <p:sp>
        <p:nvSpPr>
          <p:cNvPr id="3" name="Text 1"/>
          <p:cNvSpPr/>
          <p:nvPr/>
        </p:nvSpPr>
        <p:spPr>
          <a:xfrm>
            <a:off x="640080" y="713232"/>
            <a:ext cx="1097280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Client and server: who does what</a:t>
            </a:r>
            <a:endParaRPr lang="en-US" sz="3000" dirty="0"/>
          </a:p>
        </p:txBody>
      </p:sp>
      <p:sp>
        <p:nvSpPr>
          <p:cNvPr id="4" name="Shape 2"/>
          <p:cNvSpPr/>
          <p:nvPr/>
        </p:nvSpPr>
        <p:spPr>
          <a:xfrm>
            <a:off x="640080" y="1828800"/>
            <a:ext cx="5349240" cy="4114800"/>
          </a:xfrm>
          <a:prstGeom prst="roundRect">
            <a:avLst>
              <a:gd name="adj" fmla="val 1778"/>
            </a:avLst>
          </a:prstGeom>
          <a:solidFill>
            <a:srgbClr val="FFFFFF"/>
          </a:solidFill>
          <a:ln/>
          <a:effectLst>
            <a:outerShdw sx="100000" sy="100000" kx="0" ky="0" algn="bl" rotWithShape="0" blurRad="63500" dist="25400" dir="5400000">
              <a:srgbClr val="000000">
                <a:alpha val="10000"/>
              </a:srgbClr>
            </a:outerShdw>
          </a:effectLst>
        </p:spPr>
      </p:sp>
      <p:sp>
        <p:nvSpPr>
          <p:cNvPr id="5" name="Shape 3"/>
          <p:cNvSpPr/>
          <p:nvPr/>
        </p:nvSpPr>
        <p:spPr>
          <a:xfrm>
            <a:off x="914400" y="2103120"/>
            <a:ext cx="914400" cy="914400"/>
          </a:xfrm>
          <a:prstGeom prst="ellipse">
            <a:avLst/>
          </a:prstGeom>
          <a:solidFill>
            <a:srgbClr val="1C4FD6"/>
          </a:solidFill>
          <a:ln/>
        </p:spPr>
      </p:sp>
      <p:pic>
        <p:nvPicPr>
          <p:cNvPr id="6" name="Image 0" descr="images/icon_desktop.png">    </p:cNvPr>
          <p:cNvPicPr>
            <a:picLocks noChangeAspect="1"/>
          </p:cNvPicPr>
          <p:nvPr/>
        </p:nvPicPr>
        <p:blipFill>
          <a:blip r:embed="rId1"/>
          <a:stretch>
            <a:fillRect/>
          </a:stretch>
        </p:blipFill>
        <p:spPr>
          <a:xfrm>
            <a:off x="1143000" y="2331720"/>
            <a:ext cx="457200" cy="457200"/>
          </a:xfrm>
          <a:prstGeom prst="rect">
            <a:avLst/>
          </a:prstGeom>
        </p:spPr>
      </p:pic>
      <p:sp>
        <p:nvSpPr>
          <p:cNvPr id="7" name="Text 4"/>
          <p:cNvSpPr/>
          <p:nvPr/>
        </p:nvSpPr>
        <p:spPr>
          <a:xfrm>
            <a:off x="2011680" y="2194560"/>
            <a:ext cx="3657600" cy="411480"/>
          </a:xfrm>
          <a:prstGeom prst="rect">
            <a:avLst/>
          </a:prstGeom>
          <a:noFill/>
          <a:ln/>
        </p:spPr>
        <p:txBody>
          <a:bodyPr wrap="square" lIns="0" tIns="0" rIns="0" bIns="0" rtlCol="0" anchor="ctr"/>
          <a:lstStyle/>
          <a:p>
            <a:pPr indent="0" marL="0">
              <a:buNone/>
            </a:pPr>
            <a:r>
              <a:rPr lang="en-US" sz="2000" b="1" dirty="0">
                <a:solidFill>
                  <a:srgbClr val="201A1B"/>
                </a:solidFill>
                <a:latin typeface="Calibri" pitchFamily="34" charset="0"/>
                <a:ea typeface="Calibri" pitchFamily="34" charset="-122"/>
                <a:cs typeface="Calibri" pitchFamily="34" charset="-120"/>
              </a:rPr>
              <a:t>CLIENT</a:t>
            </a:r>
            <a:endParaRPr lang="en-US" sz="2000" dirty="0"/>
          </a:p>
        </p:txBody>
      </p:sp>
      <p:sp>
        <p:nvSpPr>
          <p:cNvPr id="8" name="Text 5"/>
          <p:cNvSpPr/>
          <p:nvPr/>
        </p:nvSpPr>
        <p:spPr>
          <a:xfrm>
            <a:off x="2011680" y="2606040"/>
            <a:ext cx="3749040" cy="365760"/>
          </a:xfrm>
          <a:prstGeom prst="rect">
            <a:avLst/>
          </a:prstGeom>
          <a:noFill/>
          <a:ln/>
        </p:spPr>
        <p:txBody>
          <a:bodyPr wrap="square" lIns="0" tIns="0" rIns="0" bIns="0" rtlCol="0" anchor="ctr"/>
          <a:lstStyle/>
          <a:p>
            <a:pPr indent="0" marL="0">
              <a:buNone/>
            </a:pPr>
            <a:r>
              <a:rPr lang="en-US" sz="1300" dirty="0">
                <a:solidFill>
                  <a:srgbClr val="6E6463"/>
                </a:solidFill>
                <a:latin typeface="Calibri" pitchFamily="34" charset="0"/>
                <a:ea typeface="Calibri" pitchFamily="34" charset="-122"/>
                <a:cs typeface="Calibri" pitchFamily="34" charset="-120"/>
              </a:rPr>
              <a:t>Your browser. Runs on the user's device.</a:t>
            </a:r>
            <a:endParaRPr lang="en-US" sz="1300" dirty="0"/>
          </a:p>
        </p:txBody>
      </p:sp>
      <p:sp>
        <p:nvSpPr>
          <p:cNvPr id="9" name="Text 6"/>
          <p:cNvSpPr/>
          <p:nvPr/>
        </p:nvSpPr>
        <p:spPr>
          <a:xfrm>
            <a:off x="960120" y="3246120"/>
            <a:ext cx="4754880" cy="246888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201A1B"/>
                </a:solidFill>
                <a:latin typeface="Calibri" pitchFamily="34" charset="0"/>
                <a:ea typeface="Calibri" pitchFamily="34" charset="-122"/>
                <a:cs typeface="Calibri" pitchFamily="34" charset="-120"/>
              </a:rPr>
              <a:t>Sends requests for pages and data</a:t>
            </a:r>
            <a:endParaRPr lang="en-US" sz="1450" dirty="0"/>
          </a:p>
          <a:p>
            <a:pPr marL="342900" indent="-342900">
              <a:spcAft>
                <a:spcPts val="1000"/>
              </a:spcAft>
              <a:buSzPct val="100000"/>
              <a:buChar char="•"/>
            </a:pPr>
            <a:r>
              <a:rPr lang="en-US" sz="1450" dirty="0">
                <a:solidFill>
                  <a:srgbClr val="201A1B"/>
                </a:solidFill>
                <a:latin typeface="Calibri" pitchFamily="34" charset="0"/>
                <a:ea typeface="Calibri" pitchFamily="34" charset="-122"/>
                <a:cs typeface="Calibri" pitchFamily="34" charset="-120"/>
              </a:rPr>
              <a:t>Runs HTML, CSS, and JavaScript</a:t>
            </a:r>
            <a:endParaRPr lang="en-US" sz="1450" dirty="0"/>
          </a:p>
          <a:p>
            <a:pPr marL="342900" indent="-342900">
              <a:spcAft>
                <a:spcPts val="1000"/>
              </a:spcAft>
              <a:buSzPct val="100000"/>
              <a:buChar char="•"/>
            </a:pPr>
            <a:r>
              <a:rPr lang="en-US" sz="1450" dirty="0">
                <a:solidFill>
                  <a:srgbClr val="201A1B"/>
                </a:solidFill>
                <a:latin typeface="Calibri" pitchFamily="34" charset="0"/>
                <a:ea typeface="Calibri" pitchFamily="34" charset="-122"/>
                <a:cs typeface="Calibri" pitchFamily="34" charset="-120"/>
              </a:rPr>
              <a:t>Renders the visible page</a:t>
            </a:r>
            <a:endParaRPr lang="en-US" sz="1450" dirty="0"/>
          </a:p>
          <a:p>
            <a:pPr marL="342900" indent="-342900">
              <a:spcAft>
                <a:spcPts val="1000"/>
              </a:spcAft>
              <a:buSzPct val="100000"/>
              <a:buChar char="•"/>
            </a:pPr>
            <a:r>
              <a:rPr lang="en-US" sz="1450" dirty="0">
                <a:solidFill>
                  <a:srgbClr val="201A1B"/>
                </a:solidFill>
                <a:latin typeface="Calibri" pitchFamily="34" charset="0"/>
                <a:ea typeface="Calibri" pitchFamily="34" charset="-122"/>
                <a:cs typeface="Calibri" pitchFamily="34" charset="-120"/>
              </a:rPr>
              <a:t>Cannot be trusted with secrets</a:t>
            </a:r>
            <a:endParaRPr lang="en-US" sz="1450" dirty="0"/>
          </a:p>
        </p:txBody>
      </p:sp>
      <p:sp>
        <p:nvSpPr>
          <p:cNvPr id="10" name="Shape 7"/>
          <p:cNvSpPr/>
          <p:nvPr/>
        </p:nvSpPr>
        <p:spPr>
          <a:xfrm>
            <a:off x="6217920" y="1828800"/>
            <a:ext cx="5349240" cy="4114800"/>
          </a:xfrm>
          <a:prstGeom prst="roundRect">
            <a:avLst>
              <a:gd name="adj" fmla="val 1778"/>
            </a:avLst>
          </a:prstGeom>
          <a:solidFill>
            <a:srgbClr val="5C1620"/>
          </a:solidFill>
          <a:ln/>
          <a:effectLst>
            <a:outerShdw sx="100000" sy="100000" kx="0" ky="0" algn="bl" rotWithShape="0" blurRad="88900" dist="38100" dir="5400000">
              <a:srgbClr val="000000">
                <a:alpha val="18000"/>
              </a:srgbClr>
            </a:outerShdw>
          </a:effectLst>
        </p:spPr>
      </p:sp>
      <p:sp>
        <p:nvSpPr>
          <p:cNvPr id="11" name="Shape 8"/>
          <p:cNvSpPr/>
          <p:nvPr/>
        </p:nvSpPr>
        <p:spPr>
          <a:xfrm>
            <a:off x="6492240" y="2103120"/>
            <a:ext cx="914400" cy="914400"/>
          </a:xfrm>
          <a:prstGeom prst="ellipse">
            <a:avLst/>
          </a:prstGeom>
          <a:solidFill>
            <a:srgbClr val="E0A93B"/>
          </a:solidFill>
          <a:ln/>
        </p:spPr>
      </p:sp>
      <p:pic>
        <p:nvPicPr>
          <p:cNvPr id="12" name="Image 1" descr="images/icon_server_m.png">    </p:cNvPr>
          <p:cNvPicPr>
            <a:picLocks noChangeAspect="1"/>
          </p:cNvPicPr>
          <p:nvPr/>
        </p:nvPicPr>
        <p:blipFill>
          <a:blip r:embed="rId2"/>
          <a:stretch>
            <a:fillRect/>
          </a:stretch>
        </p:blipFill>
        <p:spPr>
          <a:xfrm>
            <a:off x="6720840" y="2331720"/>
            <a:ext cx="457200" cy="457200"/>
          </a:xfrm>
          <a:prstGeom prst="rect">
            <a:avLst/>
          </a:prstGeom>
        </p:spPr>
      </p:pic>
      <p:sp>
        <p:nvSpPr>
          <p:cNvPr id="13" name="Text 9"/>
          <p:cNvSpPr/>
          <p:nvPr/>
        </p:nvSpPr>
        <p:spPr>
          <a:xfrm>
            <a:off x="7589520" y="2194560"/>
            <a:ext cx="36576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SERVER</a:t>
            </a:r>
            <a:endParaRPr lang="en-US" sz="2000" dirty="0"/>
          </a:p>
        </p:txBody>
      </p:sp>
      <p:sp>
        <p:nvSpPr>
          <p:cNvPr id="14" name="Text 10"/>
          <p:cNvSpPr/>
          <p:nvPr/>
        </p:nvSpPr>
        <p:spPr>
          <a:xfrm>
            <a:off x="7589520" y="2606040"/>
            <a:ext cx="3749040" cy="365760"/>
          </a:xfrm>
          <a:prstGeom prst="rect">
            <a:avLst/>
          </a:prstGeom>
          <a:noFill/>
          <a:ln/>
        </p:spPr>
        <p:txBody>
          <a:bodyPr wrap="square" lIns="0" tIns="0" rIns="0" bIns="0" rtlCol="0" anchor="ctr"/>
          <a:lstStyle/>
          <a:p>
            <a:pPr indent="0" marL="0">
              <a:buNone/>
            </a:pPr>
            <a:r>
              <a:rPr lang="en-US" sz="1300" dirty="0">
                <a:solidFill>
                  <a:srgbClr val="F0DCD0"/>
                </a:solidFill>
                <a:latin typeface="Calibri" pitchFamily="34" charset="0"/>
                <a:ea typeface="Calibri" pitchFamily="34" charset="-122"/>
                <a:cs typeface="Calibri" pitchFamily="34" charset="-120"/>
              </a:rPr>
              <a:t>A computer somewhere, always on, waiting.</a:t>
            </a:r>
            <a:endParaRPr lang="en-US" sz="1300" dirty="0"/>
          </a:p>
        </p:txBody>
      </p:sp>
      <p:sp>
        <p:nvSpPr>
          <p:cNvPr id="15" name="Text 11"/>
          <p:cNvSpPr/>
          <p:nvPr/>
        </p:nvSpPr>
        <p:spPr>
          <a:xfrm>
            <a:off x="6537960" y="3246120"/>
            <a:ext cx="4754880" cy="246888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Listens for incoming requests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Runs your backend code (Node.js)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Talks to the database</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Holds the secrets and the truth</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C1620"/>
        </a:solidFill>
      </p:bgPr>
    </p:bg>
    <p:spTree>
      <p:nvGrpSpPr>
        <p:cNvPr id="1" name=""/>
        <p:cNvGrpSpPr/>
        <p:nvPr/>
      </p:nvGrpSpPr>
      <p:grpSpPr>
        <a:xfrm>
          <a:off x="0" y="0"/>
          <a:ext cx="0" cy="0"/>
          <a:chOff x="0" y="0"/>
          <a:chExt cx="0" cy="0"/>
        </a:xfrm>
      </p:grpSpPr>
      <p:sp>
        <p:nvSpPr>
          <p:cNvPr id="2" name="Text 0"/>
          <p:cNvSpPr/>
          <p:nvPr/>
        </p:nvSpPr>
        <p:spPr>
          <a:xfrm>
            <a:off x="731520" y="548640"/>
            <a:ext cx="10058400" cy="365760"/>
          </a:xfrm>
          <a:prstGeom prst="rect">
            <a:avLst/>
          </a:prstGeom>
          <a:noFill/>
          <a:ln/>
        </p:spPr>
        <p:txBody>
          <a:bodyPr wrap="square" lIns="0" tIns="0" rIns="0" bIns="0" rtlCol="0" anchor="ctr"/>
          <a:lstStyle/>
          <a:p>
            <a:pPr indent="0" marL="0">
              <a:buNone/>
            </a:pPr>
            <a:r>
              <a:rPr lang="en-US" sz="1400" b="1" spc="300" kern="0" dirty="0">
                <a:solidFill>
                  <a:srgbClr val="E0A93B"/>
                </a:solidFill>
                <a:latin typeface="Calibri" pitchFamily="34" charset="0"/>
                <a:ea typeface="Calibri" pitchFamily="34" charset="-122"/>
                <a:cs typeface="Calibri" pitchFamily="34" charset="-120"/>
              </a:rPr>
              <a:t>WHY THIS MATTERS FOR YOU</a:t>
            </a:r>
            <a:endParaRPr lang="en-US" sz="1400" dirty="0"/>
          </a:p>
        </p:txBody>
      </p:sp>
      <p:sp>
        <p:nvSpPr>
          <p:cNvPr id="3" name="Text 1"/>
          <p:cNvSpPr/>
          <p:nvPr/>
        </p:nvSpPr>
        <p:spPr>
          <a:xfrm>
            <a:off x="713232" y="896112"/>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You will build every part of this</a:t>
            </a:r>
            <a:endParaRPr lang="en-US" sz="3000" dirty="0"/>
          </a:p>
        </p:txBody>
      </p:sp>
      <p:sp>
        <p:nvSpPr>
          <p:cNvPr id="4" name="Shape 2"/>
          <p:cNvSpPr/>
          <p:nvPr/>
        </p:nvSpPr>
        <p:spPr>
          <a:xfrm>
            <a:off x="586588" y="1874520"/>
            <a:ext cx="5349240" cy="1783080"/>
          </a:xfrm>
          <a:prstGeom prst="roundRect">
            <a:avLst>
              <a:gd name="adj" fmla="val 4103"/>
            </a:avLst>
          </a:prstGeom>
          <a:solidFill>
            <a:srgbClr val="7A1F2B"/>
          </a:solidFill>
          <a:ln/>
        </p:spPr>
      </p:sp>
      <p:sp>
        <p:nvSpPr>
          <p:cNvPr id="5" name="Shape 3"/>
          <p:cNvSpPr/>
          <p:nvPr/>
        </p:nvSpPr>
        <p:spPr>
          <a:xfrm>
            <a:off x="860908" y="2308860"/>
            <a:ext cx="914400" cy="914400"/>
          </a:xfrm>
          <a:prstGeom prst="ellipse">
            <a:avLst/>
          </a:prstGeom>
          <a:solidFill>
            <a:srgbClr val="E0A93B"/>
          </a:solidFill>
          <a:ln/>
        </p:spPr>
      </p:sp>
      <p:pic>
        <p:nvPicPr>
          <p:cNvPr id="6" name="Image 0" descr="images/icon_paint_m.png">    </p:cNvPr>
          <p:cNvPicPr>
            <a:picLocks noChangeAspect="1"/>
          </p:cNvPicPr>
          <p:nvPr/>
        </p:nvPicPr>
        <p:blipFill>
          <a:blip r:embed="rId1"/>
          <a:stretch>
            <a:fillRect/>
          </a:stretch>
        </p:blipFill>
        <p:spPr>
          <a:xfrm>
            <a:off x="1089508" y="2537460"/>
            <a:ext cx="457200" cy="457200"/>
          </a:xfrm>
          <a:prstGeom prst="rect">
            <a:avLst/>
          </a:prstGeom>
        </p:spPr>
      </p:pic>
      <p:sp>
        <p:nvSpPr>
          <p:cNvPr id="7" name="Text 4"/>
          <p:cNvSpPr/>
          <p:nvPr/>
        </p:nvSpPr>
        <p:spPr>
          <a:xfrm>
            <a:off x="1958188" y="2103120"/>
            <a:ext cx="37490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frontend (client)</a:t>
            </a:r>
            <a:endParaRPr lang="en-US" sz="1700" dirty="0"/>
          </a:p>
        </p:txBody>
      </p:sp>
      <p:sp>
        <p:nvSpPr>
          <p:cNvPr id="8" name="Text 5"/>
          <p:cNvSpPr/>
          <p:nvPr/>
        </p:nvSpPr>
        <p:spPr>
          <a:xfrm>
            <a:off x="1958188" y="2478024"/>
            <a:ext cx="3749040" cy="320040"/>
          </a:xfrm>
          <a:prstGeom prst="rect">
            <a:avLst/>
          </a:prstGeom>
          <a:noFill/>
          <a:ln/>
        </p:spPr>
        <p:txBody>
          <a:bodyPr wrap="square" lIns="0" tIns="0" rIns="0" bIns="0" rtlCol="0" anchor="ctr"/>
          <a:lstStyle/>
          <a:p>
            <a:pPr indent="0" marL="0">
              <a:buNone/>
            </a:pPr>
            <a:r>
              <a:rPr lang="en-US" sz="1250" b="1" dirty="0">
                <a:solidFill>
                  <a:srgbClr val="E0A93B"/>
                </a:solidFill>
                <a:latin typeface="Calibri" pitchFamily="34" charset="0"/>
                <a:ea typeface="Calibri" pitchFamily="34" charset="-122"/>
                <a:cs typeface="Calibri" pitchFamily="34" charset="-120"/>
              </a:rPr>
              <a:t>HTML, CSS, JavaScript, Angular</a:t>
            </a:r>
            <a:endParaRPr lang="en-US" sz="1250" dirty="0"/>
          </a:p>
        </p:txBody>
      </p:sp>
      <p:sp>
        <p:nvSpPr>
          <p:cNvPr id="9" name="Text 6"/>
          <p:cNvSpPr/>
          <p:nvPr/>
        </p:nvSpPr>
        <p:spPr>
          <a:xfrm>
            <a:off x="1958188" y="2807208"/>
            <a:ext cx="3749040" cy="731520"/>
          </a:xfrm>
          <a:prstGeom prst="rect">
            <a:avLst/>
          </a:prstGeom>
          <a:noFill/>
          <a:ln/>
        </p:spPr>
        <p:txBody>
          <a:bodyPr wrap="square" lIns="0" tIns="0" rIns="0" bIns="0" rtlCol="0" anchor="t"/>
          <a:lstStyle/>
          <a:p>
            <a:pPr indent="0" marL="0">
              <a:buNone/>
            </a:pPr>
            <a:r>
              <a:rPr lang="en-US" sz="1250" dirty="0">
                <a:solidFill>
                  <a:srgbClr val="F0DCD0"/>
                </a:solidFill>
                <a:latin typeface="Calibri" pitchFamily="34" charset="0"/>
                <a:ea typeface="Calibri" pitchFamily="34" charset="-122"/>
                <a:cs typeface="Calibri" pitchFamily="34" charset="-120"/>
              </a:rPr>
              <a:t>Modules 1-2: the page the user sees and clicks.</a:t>
            </a:r>
            <a:endParaRPr lang="en-US" sz="1250" dirty="0"/>
          </a:p>
        </p:txBody>
      </p:sp>
      <p:sp>
        <p:nvSpPr>
          <p:cNvPr id="10" name="Shape 7"/>
          <p:cNvSpPr/>
          <p:nvPr/>
        </p:nvSpPr>
        <p:spPr>
          <a:xfrm>
            <a:off x="6255868" y="1874520"/>
            <a:ext cx="5349240" cy="1783080"/>
          </a:xfrm>
          <a:prstGeom prst="roundRect">
            <a:avLst>
              <a:gd name="adj" fmla="val 4103"/>
            </a:avLst>
          </a:prstGeom>
          <a:solidFill>
            <a:srgbClr val="7A1F2B"/>
          </a:solidFill>
          <a:ln/>
        </p:spPr>
      </p:sp>
      <p:sp>
        <p:nvSpPr>
          <p:cNvPr id="11" name="Shape 8"/>
          <p:cNvSpPr/>
          <p:nvPr/>
        </p:nvSpPr>
        <p:spPr>
          <a:xfrm>
            <a:off x="6530188" y="2308860"/>
            <a:ext cx="914400" cy="914400"/>
          </a:xfrm>
          <a:prstGeom prst="ellipse">
            <a:avLst/>
          </a:prstGeom>
          <a:solidFill>
            <a:srgbClr val="E0A93B"/>
          </a:solidFill>
          <a:ln/>
        </p:spPr>
      </p:sp>
      <p:pic>
        <p:nvPicPr>
          <p:cNvPr id="12" name="Image 1" descr="images/icon_server_m.png">    </p:cNvPr>
          <p:cNvPicPr>
            <a:picLocks noChangeAspect="1"/>
          </p:cNvPicPr>
          <p:nvPr/>
        </p:nvPicPr>
        <p:blipFill>
          <a:blip r:embed="rId2"/>
          <a:stretch>
            <a:fillRect/>
          </a:stretch>
        </p:blipFill>
        <p:spPr>
          <a:xfrm>
            <a:off x="6758788" y="2537460"/>
            <a:ext cx="457200" cy="457200"/>
          </a:xfrm>
          <a:prstGeom prst="rect">
            <a:avLst/>
          </a:prstGeom>
        </p:spPr>
      </p:pic>
      <p:sp>
        <p:nvSpPr>
          <p:cNvPr id="13" name="Text 9"/>
          <p:cNvSpPr/>
          <p:nvPr/>
        </p:nvSpPr>
        <p:spPr>
          <a:xfrm>
            <a:off x="7627468" y="2103120"/>
            <a:ext cx="37490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backend (server)</a:t>
            </a:r>
            <a:endParaRPr lang="en-US" sz="1700" dirty="0"/>
          </a:p>
        </p:txBody>
      </p:sp>
      <p:sp>
        <p:nvSpPr>
          <p:cNvPr id="14" name="Text 10"/>
          <p:cNvSpPr/>
          <p:nvPr/>
        </p:nvSpPr>
        <p:spPr>
          <a:xfrm>
            <a:off x="7627468" y="2478024"/>
            <a:ext cx="3749040" cy="320040"/>
          </a:xfrm>
          <a:prstGeom prst="rect">
            <a:avLst/>
          </a:prstGeom>
          <a:noFill/>
          <a:ln/>
        </p:spPr>
        <p:txBody>
          <a:bodyPr wrap="square" lIns="0" tIns="0" rIns="0" bIns="0" rtlCol="0" anchor="ctr"/>
          <a:lstStyle/>
          <a:p>
            <a:pPr indent="0" marL="0">
              <a:buNone/>
            </a:pPr>
            <a:r>
              <a:rPr lang="en-US" sz="1250" b="1" dirty="0">
                <a:solidFill>
                  <a:srgbClr val="E0A93B"/>
                </a:solidFill>
                <a:latin typeface="Calibri" pitchFamily="34" charset="0"/>
                <a:ea typeface="Calibri" pitchFamily="34" charset="-122"/>
                <a:cs typeface="Calibri" pitchFamily="34" charset="-120"/>
              </a:rPr>
              <a:t>Node.js, Express, REST APIs</a:t>
            </a:r>
            <a:endParaRPr lang="en-US" sz="1250" dirty="0"/>
          </a:p>
        </p:txBody>
      </p:sp>
      <p:sp>
        <p:nvSpPr>
          <p:cNvPr id="15" name="Text 11"/>
          <p:cNvSpPr/>
          <p:nvPr/>
        </p:nvSpPr>
        <p:spPr>
          <a:xfrm>
            <a:off x="7627468" y="2807208"/>
            <a:ext cx="3749040" cy="731520"/>
          </a:xfrm>
          <a:prstGeom prst="rect">
            <a:avLst/>
          </a:prstGeom>
          <a:noFill/>
          <a:ln/>
        </p:spPr>
        <p:txBody>
          <a:bodyPr wrap="square" lIns="0" tIns="0" rIns="0" bIns="0" rtlCol="0" anchor="t"/>
          <a:lstStyle/>
          <a:p>
            <a:pPr indent="0" marL="0">
              <a:buNone/>
            </a:pPr>
            <a:r>
              <a:rPr lang="en-US" sz="1250" dirty="0">
                <a:solidFill>
                  <a:srgbClr val="F0DCD0"/>
                </a:solidFill>
                <a:latin typeface="Calibri" pitchFamily="34" charset="0"/>
                <a:ea typeface="Calibri" pitchFamily="34" charset="-122"/>
                <a:cs typeface="Calibri" pitchFamily="34" charset="-120"/>
              </a:rPr>
              <a:t>Module 3: the code that answers the requests.</a:t>
            </a:r>
            <a:endParaRPr lang="en-US" sz="1250" dirty="0"/>
          </a:p>
        </p:txBody>
      </p:sp>
      <p:sp>
        <p:nvSpPr>
          <p:cNvPr id="16" name="Shape 12"/>
          <p:cNvSpPr/>
          <p:nvPr/>
        </p:nvSpPr>
        <p:spPr>
          <a:xfrm>
            <a:off x="586588" y="3977640"/>
            <a:ext cx="5349240" cy="1783080"/>
          </a:xfrm>
          <a:prstGeom prst="roundRect">
            <a:avLst>
              <a:gd name="adj" fmla="val 4103"/>
            </a:avLst>
          </a:prstGeom>
          <a:solidFill>
            <a:srgbClr val="7A1F2B"/>
          </a:solidFill>
          <a:ln/>
        </p:spPr>
      </p:sp>
      <p:sp>
        <p:nvSpPr>
          <p:cNvPr id="17" name="Shape 13"/>
          <p:cNvSpPr/>
          <p:nvPr/>
        </p:nvSpPr>
        <p:spPr>
          <a:xfrm>
            <a:off x="860908" y="4411980"/>
            <a:ext cx="914400" cy="914400"/>
          </a:xfrm>
          <a:prstGeom prst="ellipse">
            <a:avLst/>
          </a:prstGeom>
          <a:solidFill>
            <a:srgbClr val="E0A93B"/>
          </a:solidFill>
          <a:ln/>
        </p:spPr>
      </p:sp>
      <p:pic>
        <p:nvPicPr>
          <p:cNvPr id="18" name="Image 2" descr="images/icon_database_m.png">    </p:cNvPr>
          <p:cNvPicPr>
            <a:picLocks noChangeAspect="1"/>
          </p:cNvPicPr>
          <p:nvPr/>
        </p:nvPicPr>
        <p:blipFill>
          <a:blip r:embed="rId3"/>
          <a:stretch>
            <a:fillRect/>
          </a:stretch>
        </p:blipFill>
        <p:spPr>
          <a:xfrm>
            <a:off x="1089508" y="4640580"/>
            <a:ext cx="457200" cy="457200"/>
          </a:xfrm>
          <a:prstGeom prst="rect">
            <a:avLst/>
          </a:prstGeom>
        </p:spPr>
      </p:pic>
      <p:sp>
        <p:nvSpPr>
          <p:cNvPr id="19" name="Text 14"/>
          <p:cNvSpPr/>
          <p:nvPr/>
        </p:nvSpPr>
        <p:spPr>
          <a:xfrm>
            <a:off x="1958188" y="4206240"/>
            <a:ext cx="37490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database</a:t>
            </a:r>
            <a:endParaRPr lang="en-US" sz="1700" dirty="0"/>
          </a:p>
        </p:txBody>
      </p:sp>
      <p:sp>
        <p:nvSpPr>
          <p:cNvPr id="20" name="Text 15"/>
          <p:cNvSpPr/>
          <p:nvPr/>
        </p:nvSpPr>
        <p:spPr>
          <a:xfrm>
            <a:off x="1958188" y="4581144"/>
            <a:ext cx="3749040" cy="320040"/>
          </a:xfrm>
          <a:prstGeom prst="rect">
            <a:avLst/>
          </a:prstGeom>
          <a:noFill/>
          <a:ln/>
        </p:spPr>
        <p:txBody>
          <a:bodyPr wrap="square" lIns="0" tIns="0" rIns="0" bIns="0" rtlCol="0" anchor="ctr"/>
          <a:lstStyle/>
          <a:p>
            <a:pPr indent="0" marL="0">
              <a:buNone/>
            </a:pPr>
            <a:r>
              <a:rPr lang="en-US" sz="1250" b="1" dirty="0">
                <a:solidFill>
                  <a:srgbClr val="E0A93B"/>
                </a:solidFill>
                <a:latin typeface="Calibri" pitchFamily="34" charset="0"/>
                <a:ea typeface="Calibri" pitchFamily="34" charset="-122"/>
                <a:cs typeface="Calibri" pitchFamily="34" charset="-120"/>
              </a:rPr>
              <a:t>MySQL, MongoDB</a:t>
            </a:r>
            <a:endParaRPr lang="en-US" sz="1250" dirty="0"/>
          </a:p>
        </p:txBody>
      </p:sp>
      <p:sp>
        <p:nvSpPr>
          <p:cNvPr id="21" name="Text 16"/>
          <p:cNvSpPr/>
          <p:nvPr/>
        </p:nvSpPr>
        <p:spPr>
          <a:xfrm>
            <a:off x="1958188" y="4910328"/>
            <a:ext cx="3749040" cy="731520"/>
          </a:xfrm>
          <a:prstGeom prst="rect">
            <a:avLst/>
          </a:prstGeom>
          <a:noFill/>
          <a:ln/>
        </p:spPr>
        <p:txBody>
          <a:bodyPr wrap="square" lIns="0" tIns="0" rIns="0" bIns="0" rtlCol="0" anchor="t"/>
          <a:lstStyle/>
          <a:p>
            <a:pPr indent="0" marL="0">
              <a:buNone/>
            </a:pPr>
            <a:r>
              <a:rPr lang="en-US" sz="1250" dirty="0">
                <a:solidFill>
                  <a:srgbClr val="F0DCD0"/>
                </a:solidFill>
                <a:latin typeface="Calibri" pitchFamily="34" charset="0"/>
                <a:ea typeface="Calibri" pitchFamily="34" charset="-122"/>
                <a:cs typeface="Calibri" pitchFamily="34" charset="-120"/>
              </a:rPr>
              <a:t>Module 4: where the real data is stored and queried.</a:t>
            </a:r>
            <a:endParaRPr lang="en-US" sz="1250" dirty="0"/>
          </a:p>
        </p:txBody>
      </p:sp>
      <p:sp>
        <p:nvSpPr>
          <p:cNvPr id="22" name="Shape 17"/>
          <p:cNvSpPr/>
          <p:nvPr/>
        </p:nvSpPr>
        <p:spPr>
          <a:xfrm>
            <a:off x="6255868" y="3977640"/>
            <a:ext cx="5349240" cy="1783080"/>
          </a:xfrm>
          <a:prstGeom prst="roundRect">
            <a:avLst>
              <a:gd name="adj" fmla="val 4103"/>
            </a:avLst>
          </a:prstGeom>
          <a:solidFill>
            <a:srgbClr val="7A1F2B"/>
          </a:solidFill>
          <a:ln/>
        </p:spPr>
      </p:sp>
      <p:sp>
        <p:nvSpPr>
          <p:cNvPr id="23" name="Shape 18"/>
          <p:cNvSpPr/>
          <p:nvPr/>
        </p:nvSpPr>
        <p:spPr>
          <a:xfrm>
            <a:off x="6530188" y="4411980"/>
            <a:ext cx="914400" cy="914400"/>
          </a:xfrm>
          <a:prstGeom prst="ellipse">
            <a:avLst/>
          </a:prstGeom>
          <a:solidFill>
            <a:srgbClr val="E0A93B"/>
          </a:solidFill>
          <a:ln/>
        </p:spPr>
      </p:sp>
      <p:pic>
        <p:nvPicPr>
          <p:cNvPr id="24" name="Image 3" descr="images/icon_lock_m.png">    </p:cNvPr>
          <p:cNvPicPr>
            <a:picLocks noChangeAspect="1"/>
          </p:cNvPicPr>
          <p:nvPr/>
        </p:nvPicPr>
        <p:blipFill>
          <a:blip r:embed="rId4"/>
          <a:stretch>
            <a:fillRect/>
          </a:stretch>
        </p:blipFill>
        <p:spPr>
          <a:xfrm>
            <a:off x="6758788" y="4640580"/>
            <a:ext cx="457200" cy="457200"/>
          </a:xfrm>
          <a:prstGeom prst="rect">
            <a:avLst/>
          </a:prstGeom>
        </p:spPr>
      </p:pic>
      <p:sp>
        <p:nvSpPr>
          <p:cNvPr id="25" name="Text 19"/>
          <p:cNvSpPr/>
          <p:nvPr/>
        </p:nvSpPr>
        <p:spPr>
          <a:xfrm>
            <a:off x="7627468" y="4206240"/>
            <a:ext cx="37490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connection</a:t>
            </a:r>
            <a:endParaRPr lang="en-US" sz="1700" dirty="0"/>
          </a:p>
        </p:txBody>
      </p:sp>
      <p:sp>
        <p:nvSpPr>
          <p:cNvPr id="26" name="Text 20"/>
          <p:cNvSpPr/>
          <p:nvPr/>
        </p:nvSpPr>
        <p:spPr>
          <a:xfrm>
            <a:off x="7627468" y="4581144"/>
            <a:ext cx="3749040" cy="320040"/>
          </a:xfrm>
          <a:prstGeom prst="rect">
            <a:avLst/>
          </a:prstGeom>
          <a:noFill/>
          <a:ln/>
        </p:spPr>
        <p:txBody>
          <a:bodyPr wrap="square" lIns="0" tIns="0" rIns="0" bIns="0" rtlCol="0" anchor="ctr"/>
          <a:lstStyle/>
          <a:p>
            <a:pPr indent="0" marL="0">
              <a:buNone/>
            </a:pPr>
            <a:r>
              <a:rPr lang="en-US" sz="1250" b="1" dirty="0">
                <a:solidFill>
                  <a:srgbClr val="E0A93B"/>
                </a:solidFill>
                <a:latin typeface="Calibri" pitchFamily="34" charset="0"/>
                <a:ea typeface="Calibri" pitchFamily="34" charset="-122"/>
                <a:cs typeface="Calibri" pitchFamily="34" charset="-120"/>
              </a:rPr>
              <a:t>HTTP, status codes, auth</a:t>
            </a:r>
            <a:endParaRPr lang="en-US" sz="1250" dirty="0"/>
          </a:p>
        </p:txBody>
      </p:sp>
      <p:sp>
        <p:nvSpPr>
          <p:cNvPr id="27" name="Text 21"/>
          <p:cNvSpPr/>
          <p:nvPr/>
        </p:nvSpPr>
        <p:spPr>
          <a:xfrm>
            <a:off x="7627468" y="4910328"/>
            <a:ext cx="3749040" cy="731520"/>
          </a:xfrm>
          <a:prstGeom prst="rect">
            <a:avLst/>
          </a:prstGeom>
          <a:noFill/>
          <a:ln/>
        </p:spPr>
        <p:txBody>
          <a:bodyPr wrap="square" lIns="0" tIns="0" rIns="0" bIns="0" rtlCol="0" anchor="t"/>
          <a:lstStyle/>
          <a:p>
            <a:pPr indent="0" marL="0">
              <a:buNone/>
            </a:pPr>
            <a:r>
              <a:rPr lang="en-US" sz="1250" dirty="0">
                <a:solidFill>
                  <a:srgbClr val="F0DCD0"/>
                </a:solidFill>
                <a:latin typeface="Calibri" pitchFamily="34" charset="0"/>
                <a:ea typeface="Calibri" pitchFamily="34" charset="-122"/>
                <a:cs typeface="Calibri" pitchFamily="34" charset="-120"/>
              </a:rPr>
              <a:t>Threaded through everything: how the pieces talk.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424"/>
        </a:solidFill>
      </p:bgPr>
    </p:bg>
    <p:spTree>
      <p:nvGrpSpPr>
        <p:cNvPr id="1" name=""/>
        <p:cNvGrpSpPr/>
        <p:nvPr/>
      </p:nvGrpSpPr>
      <p:grpSpPr>
        <a:xfrm>
          <a:off x="0" y="0"/>
          <a:ext cx="0" cy="0"/>
          <a:chOff x="0" y="0"/>
          <a:chExt cx="0" cy="0"/>
        </a:xfrm>
      </p:grpSpPr>
      <p:sp>
        <p:nvSpPr>
          <p:cNvPr id="2" name="Shape 0"/>
          <p:cNvSpPr/>
          <p:nvPr/>
        </p:nvSpPr>
        <p:spPr>
          <a:xfrm>
            <a:off x="9692640" y="4206240"/>
            <a:ext cx="3474720" cy="3474720"/>
          </a:xfrm>
          <a:prstGeom prst="ellipse">
            <a:avLst/>
          </a:prstGeom>
          <a:solidFill>
            <a:srgbClr val="342C2C"/>
          </a:solidFill>
          <a:ln/>
        </p:spPr>
      </p:sp>
      <p:sp>
        <p:nvSpPr>
          <p:cNvPr id="3" name="Text 1"/>
          <p:cNvSpPr/>
          <p:nvPr/>
        </p:nvSpPr>
        <p:spPr>
          <a:xfrm>
            <a:off x="731520" y="2011680"/>
            <a:ext cx="9144000" cy="457200"/>
          </a:xfrm>
          <a:prstGeom prst="rect">
            <a:avLst/>
          </a:prstGeom>
          <a:noFill/>
          <a:ln/>
        </p:spPr>
        <p:txBody>
          <a:bodyPr wrap="square" lIns="0" tIns="0" rIns="0" bIns="0" rtlCol="0" anchor="ctr"/>
          <a:lstStyle/>
          <a:p>
            <a:pPr indent="0" marL="0">
              <a:buNone/>
            </a:pPr>
            <a:r>
              <a:rPr lang="en-US" sz="1600" b="1" spc="400" kern="0" dirty="0">
                <a:solidFill>
                  <a:srgbClr val="E0A93B"/>
                </a:solidFill>
                <a:latin typeface="Calibri" pitchFamily="34" charset="0"/>
                <a:ea typeface="Calibri" pitchFamily="34" charset="-122"/>
                <a:cs typeface="Calibri" pitchFamily="34" charset="-120"/>
              </a:rPr>
              <a:t>PART 2</a:t>
            </a:r>
            <a:endParaRPr lang="en-US" sz="1600" dirty="0"/>
          </a:p>
        </p:txBody>
      </p:sp>
      <p:sp>
        <p:nvSpPr>
          <p:cNvPr id="4" name="Text 2"/>
          <p:cNvSpPr/>
          <p:nvPr/>
        </p:nvSpPr>
        <p:spPr>
          <a:xfrm>
            <a:off x="713232" y="246888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Bookman Old Style" pitchFamily="34" charset="0"/>
                <a:ea typeface="Bookman Old Style" pitchFamily="34" charset="-122"/>
                <a:cs typeface="Bookman Old Style" pitchFamily="34" charset="-120"/>
              </a:rPr>
              <a:t>Let's see what stuck.</a:t>
            </a:r>
            <a:endParaRPr lang="en-US" sz="4600" dirty="0"/>
          </a:p>
        </p:txBody>
      </p:sp>
      <p:sp>
        <p:nvSpPr>
          <p:cNvPr id="5" name="Text 3"/>
          <p:cNvSpPr/>
          <p:nvPr/>
        </p:nvSpPr>
        <p:spPr>
          <a:xfrm>
            <a:off x="731520" y="3520440"/>
            <a:ext cx="9601200" cy="914400"/>
          </a:xfrm>
          <a:prstGeom prst="rect">
            <a:avLst/>
          </a:prstGeom>
          <a:noFill/>
          <a:ln/>
        </p:spPr>
        <p:txBody>
          <a:bodyPr wrap="square" lIns="0" tIns="0" rIns="0" bIns="0" rtlCol="0" anchor="ctr"/>
          <a:lstStyle/>
          <a:p>
            <a:pPr indent="0" marL="0">
              <a:lnSpc>
                <a:spcPct val="120000"/>
              </a:lnSpc>
              <a:buNone/>
            </a:pPr>
            <a:r>
              <a:rPr lang="en-US" sz="1800" i="1" dirty="0">
                <a:solidFill>
                  <a:srgbClr val="C9C2C2"/>
                </a:solidFill>
                <a:latin typeface="Calibri" pitchFamily="34" charset="0"/>
                <a:ea typeface="Calibri" pitchFamily="34" charset="-122"/>
                <a:cs typeface="Calibri" pitchFamily="34" charset="-120"/>
              </a:rPr>
              <a:t>A question bank that goes from warm-up to genuinely hard. I'll ask. You think first, then we discuss. Don't just shout the answer, explain the why.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640080" y="457200"/>
            <a:ext cx="2468880" cy="502920"/>
          </a:xfrm>
          <a:prstGeom prst="roundRect">
            <a:avLst>
              <a:gd name="adj" fmla="val 49091"/>
            </a:avLst>
          </a:prstGeom>
          <a:solidFill>
            <a:srgbClr val="2E7D5B"/>
          </a:solidFill>
          <a:ln/>
        </p:spPr>
      </p:sp>
      <p:sp>
        <p:nvSpPr>
          <p:cNvPr id="3" name="Text 1"/>
          <p:cNvSpPr/>
          <p:nvPr/>
        </p:nvSpPr>
        <p:spPr>
          <a:xfrm>
            <a:off x="640080" y="457200"/>
            <a:ext cx="2468880" cy="5029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WARM-UP</a:t>
            </a:r>
            <a:endParaRPr lang="en-US" sz="1300" dirty="0"/>
          </a:p>
        </p:txBody>
      </p:sp>
      <p:sp>
        <p:nvSpPr>
          <p:cNvPr id="4" name="Text 2"/>
          <p:cNvSpPr/>
          <p:nvPr/>
        </p:nvSpPr>
        <p:spPr>
          <a:xfrm>
            <a:off x="640080" y="1143000"/>
            <a:ext cx="10972800" cy="640080"/>
          </a:xfrm>
          <a:prstGeom prst="rect">
            <a:avLst/>
          </a:prstGeom>
          <a:noFill/>
          <a:ln/>
        </p:spPr>
        <p:txBody>
          <a:bodyPr wrap="square" lIns="0" tIns="0" rIns="0" bIns="0" rtlCol="0" anchor="ctr"/>
          <a:lstStyle/>
          <a:p>
            <a:pPr indent="0" marL="0">
              <a:buNone/>
            </a:pPr>
            <a:r>
              <a:rPr lang="en-US" sz="2700" b="1" dirty="0">
                <a:solidFill>
                  <a:srgbClr val="5C1620"/>
                </a:solidFill>
                <a:latin typeface="Bookman Old Style" pitchFamily="34" charset="0"/>
                <a:ea typeface="Bookman Old Style" pitchFamily="34" charset="-122"/>
                <a:cs typeface="Bookman Old Style" pitchFamily="34" charset="-120"/>
              </a:rPr>
              <a:t>Do the basics hold up?</a:t>
            </a:r>
            <a:endParaRPr lang="en-US" sz="2700" dirty="0"/>
          </a:p>
        </p:txBody>
      </p:sp>
      <p:sp>
        <p:nvSpPr>
          <p:cNvPr id="5" name="Shape 3"/>
          <p:cNvSpPr/>
          <p:nvPr/>
        </p:nvSpPr>
        <p:spPr>
          <a:xfrm>
            <a:off x="640080" y="1965960"/>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6" name="Text 4"/>
          <p:cNvSpPr/>
          <p:nvPr/>
        </p:nvSpPr>
        <p:spPr>
          <a:xfrm>
            <a:off x="822960" y="2103120"/>
            <a:ext cx="777240" cy="457200"/>
          </a:xfrm>
          <a:prstGeom prst="rect">
            <a:avLst/>
          </a:prstGeom>
          <a:noFill/>
          <a:ln/>
        </p:spPr>
        <p:txBody>
          <a:bodyPr wrap="square" lIns="0" tIns="0" rIns="0" bIns="0" rtlCol="0" anchor="t"/>
          <a:lstStyle/>
          <a:p>
            <a:pPr indent="0" marL="0">
              <a:buNone/>
            </a:pPr>
            <a:r>
              <a:rPr lang="en-US" sz="2300" b="1" dirty="0">
                <a:solidFill>
                  <a:srgbClr val="2E7D5B"/>
                </a:solidFill>
                <a:latin typeface="Bookman Old Style" pitchFamily="34" charset="0"/>
                <a:ea typeface="Bookman Old Style" pitchFamily="34" charset="-122"/>
                <a:cs typeface="Bookman Old Style" pitchFamily="34" charset="-120"/>
              </a:rPr>
              <a:t>Q1</a:t>
            </a:r>
            <a:endParaRPr lang="en-US" sz="2300" dirty="0"/>
          </a:p>
        </p:txBody>
      </p:sp>
      <p:sp>
        <p:nvSpPr>
          <p:cNvPr id="7" name="Text 5"/>
          <p:cNvSpPr/>
          <p:nvPr/>
        </p:nvSpPr>
        <p:spPr>
          <a:xfrm>
            <a:off x="1691640" y="2084832"/>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 does DNS do, in one sentence?</a:t>
            </a:r>
            <a:endParaRPr lang="en-US" sz="1500" dirty="0"/>
          </a:p>
        </p:txBody>
      </p:sp>
      <p:sp>
        <p:nvSpPr>
          <p:cNvPr id="8" name="Text 6"/>
          <p:cNvSpPr/>
          <p:nvPr/>
        </p:nvSpPr>
        <p:spPr>
          <a:xfrm>
            <a:off x="1691640" y="2468880"/>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Turns a human-readable domain name into the numeric IP address machines actually use.</a:t>
            </a:r>
            <a:endParaRPr lang="en-US" sz="1250" dirty="0"/>
          </a:p>
        </p:txBody>
      </p:sp>
      <p:sp>
        <p:nvSpPr>
          <p:cNvPr id="9" name="Shape 7"/>
          <p:cNvSpPr/>
          <p:nvPr/>
        </p:nvSpPr>
        <p:spPr>
          <a:xfrm>
            <a:off x="640080" y="3099816"/>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0" name="Text 8"/>
          <p:cNvSpPr/>
          <p:nvPr/>
        </p:nvSpPr>
        <p:spPr>
          <a:xfrm>
            <a:off x="822960" y="3236976"/>
            <a:ext cx="777240" cy="457200"/>
          </a:xfrm>
          <a:prstGeom prst="rect">
            <a:avLst/>
          </a:prstGeom>
          <a:noFill/>
          <a:ln/>
        </p:spPr>
        <p:txBody>
          <a:bodyPr wrap="square" lIns="0" tIns="0" rIns="0" bIns="0" rtlCol="0" anchor="t"/>
          <a:lstStyle/>
          <a:p>
            <a:pPr indent="0" marL="0">
              <a:buNone/>
            </a:pPr>
            <a:r>
              <a:rPr lang="en-US" sz="2300" b="1" dirty="0">
                <a:solidFill>
                  <a:srgbClr val="2E7D5B"/>
                </a:solidFill>
                <a:latin typeface="Bookman Old Style" pitchFamily="34" charset="0"/>
                <a:ea typeface="Bookman Old Style" pitchFamily="34" charset="-122"/>
                <a:cs typeface="Bookman Old Style" pitchFamily="34" charset="-120"/>
              </a:rPr>
              <a:t>Q2</a:t>
            </a:r>
            <a:endParaRPr lang="en-US" sz="2300" dirty="0"/>
          </a:p>
        </p:txBody>
      </p:sp>
      <p:sp>
        <p:nvSpPr>
          <p:cNvPr id="11" name="Text 9"/>
          <p:cNvSpPr/>
          <p:nvPr/>
        </p:nvSpPr>
        <p:spPr>
          <a:xfrm>
            <a:off x="1691640" y="3218688"/>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What's the difference between http and https?</a:t>
            </a:r>
            <a:endParaRPr lang="en-US" sz="1500" dirty="0"/>
          </a:p>
        </p:txBody>
      </p:sp>
      <p:sp>
        <p:nvSpPr>
          <p:cNvPr id="12" name="Text 10"/>
          <p:cNvSpPr/>
          <p:nvPr/>
        </p:nvSpPr>
        <p:spPr>
          <a:xfrm>
            <a:off x="1691640" y="3602736"/>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https adds TLS encryption, so data is scrambled in transit and the server's identity is verified.</a:t>
            </a:r>
            <a:endParaRPr lang="en-US" sz="1250" dirty="0"/>
          </a:p>
        </p:txBody>
      </p:sp>
      <p:sp>
        <p:nvSpPr>
          <p:cNvPr id="13" name="Shape 11"/>
          <p:cNvSpPr/>
          <p:nvPr/>
        </p:nvSpPr>
        <p:spPr>
          <a:xfrm>
            <a:off x="640080" y="4233672"/>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4" name="Text 12"/>
          <p:cNvSpPr/>
          <p:nvPr/>
        </p:nvSpPr>
        <p:spPr>
          <a:xfrm>
            <a:off x="822960" y="4370832"/>
            <a:ext cx="777240" cy="457200"/>
          </a:xfrm>
          <a:prstGeom prst="rect">
            <a:avLst/>
          </a:prstGeom>
          <a:noFill/>
          <a:ln/>
        </p:spPr>
        <p:txBody>
          <a:bodyPr wrap="square" lIns="0" tIns="0" rIns="0" bIns="0" rtlCol="0" anchor="t"/>
          <a:lstStyle/>
          <a:p>
            <a:pPr indent="0" marL="0">
              <a:buNone/>
            </a:pPr>
            <a:r>
              <a:rPr lang="en-US" sz="2300" b="1" dirty="0">
                <a:solidFill>
                  <a:srgbClr val="2E7D5B"/>
                </a:solidFill>
                <a:latin typeface="Bookman Old Style" pitchFamily="34" charset="0"/>
                <a:ea typeface="Bookman Old Style" pitchFamily="34" charset="-122"/>
                <a:cs typeface="Bookman Old Style" pitchFamily="34" charset="-120"/>
              </a:rPr>
              <a:t>Q3</a:t>
            </a:r>
            <a:endParaRPr lang="en-US" sz="2300" dirty="0"/>
          </a:p>
        </p:txBody>
      </p:sp>
      <p:sp>
        <p:nvSpPr>
          <p:cNvPr id="15" name="Text 13"/>
          <p:cNvSpPr/>
          <p:nvPr/>
        </p:nvSpPr>
        <p:spPr>
          <a:xfrm>
            <a:off x="1691640" y="4352544"/>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 is a client and what is a server?</a:t>
            </a:r>
            <a:endParaRPr lang="en-US" sz="1500" dirty="0"/>
          </a:p>
        </p:txBody>
      </p:sp>
      <p:sp>
        <p:nvSpPr>
          <p:cNvPr id="16" name="Text 14"/>
          <p:cNvSpPr/>
          <p:nvPr/>
        </p:nvSpPr>
        <p:spPr>
          <a:xfrm>
            <a:off x="1691640" y="4736592"/>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The client (browser) requests; the server listens, runs backend code, and responds with data.</a:t>
            </a:r>
            <a:endParaRPr lang="en-US" sz="1250" dirty="0"/>
          </a:p>
        </p:txBody>
      </p:sp>
      <p:sp>
        <p:nvSpPr>
          <p:cNvPr id="17" name="Shape 15"/>
          <p:cNvSpPr/>
          <p:nvPr/>
        </p:nvSpPr>
        <p:spPr>
          <a:xfrm>
            <a:off x="640080" y="5367528"/>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8" name="Text 16"/>
          <p:cNvSpPr/>
          <p:nvPr/>
        </p:nvSpPr>
        <p:spPr>
          <a:xfrm>
            <a:off x="822960" y="5504688"/>
            <a:ext cx="777240" cy="457200"/>
          </a:xfrm>
          <a:prstGeom prst="rect">
            <a:avLst/>
          </a:prstGeom>
          <a:noFill/>
          <a:ln/>
        </p:spPr>
        <p:txBody>
          <a:bodyPr wrap="square" lIns="0" tIns="0" rIns="0" bIns="0" rtlCol="0" anchor="t"/>
          <a:lstStyle/>
          <a:p>
            <a:pPr indent="0" marL="0">
              <a:buNone/>
            </a:pPr>
            <a:r>
              <a:rPr lang="en-US" sz="2300" b="1" dirty="0">
                <a:solidFill>
                  <a:srgbClr val="2E7D5B"/>
                </a:solidFill>
                <a:latin typeface="Bookman Old Style" pitchFamily="34" charset="0"/>
                <a:ea typeface="Bookman Old Style" pitchFamily="34" charset="-122"/>
                <a:cs typeface="Bookman Old Style" pitchFamily="34" charset="-120"/>
              </a:rPr>
              <a:t>Q4</a:t>
            </a:r>
            <a:endParaRPr lang="en-US" sz="2300" dirty="0"/>
          </a:p>
        </p:txBody>
      </p:sp>
      <p:sp>
        <p:nvSpPr>
          <p:cNvPr id="19" name="Text 17"/>
          <p:cNvSpPr/>
          <p:nvPr/>
        </p:nvSpPr>
        <p:spPr>
          <a:xfrm>
            <a:off x="1691640" y="5486400"/>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 does a 404 status code mean?</a:t>
            </a:r>
            <a:endParaRPr lang="en-US" sz="1500" dirty="0"/>
          </a:p>
        </p:txBody>
      </p:sp>
      <p:sp>
        <p:nvSpPr>
          <p:cNvPr id="20" name="Text 18"/>
          <p:cNvSpPr/>
          <p:nvPr/>
        </p:nvSpPr>
        <p:spPr>
          <a:xfrm>
            <a:off x="1691640" y="5870448"/>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The server understood the request but could not find the resource at that path.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640080" y="457200"/>
            <a:ext cx="2468880" cy="502920"/>
          </a:xfrm>
          <a:prstGeom prst="roundRect">
            <a:avLst>
              <a:gd name="adj" fmla="val 49091"/>
            </a:avLst>
          </a:prstGeom>
          <a:solidFill>
            <a:srgbClr val="C0603A"/>
          </a:solidFill>
          <a:ln/>
        </p:spPr>
      </p:sp>
      <p:sp>
        <p:nvSpPr>
          <p:cNvPr id="3" name="Text 1"/>
          <p:cNvSpPr/>
          <p:nvPr/>
        </p:nvSpPr>
        <p:spPr>
          <a:xfrm>
            <a:off x="640080" y="457200"/>
            <a:ext cx="2468880" cy="5029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INTERMEDIATE</a:t>
            </a:r>
            <a:endParaRPr lang="en-US" sz="1300" dirty="0"/>
          </a:p>
        </p:txBody>
      </p:sp>
      <p:sp>
        <p:nvSpPr>
          <p:cNvPr id="4" name="Text 2"/>
          <p:cNvSpPr/>
          <p:nvPr/>
        </p:nvSpPr>
        <p:spPr>
          <a:xfrm>
            <a:off x="640080" y="1143000"/>
            <a:ext cx="10972800" cy="640080"/>
          </a:xfrm>
          <a:prstGeom prst="rect">
            <a:avLst/>
          </a:prstGeom>
          <a:noFill/>
          <a:ln/>
        </p:spPr>
        <p:txBody>
          <a:bodyPr wrap="square" lIns="0" tIns="0" rIns="0" bIns="0" rtlCol="0" anchor="ctr"/>
          <a:lstStyle/>
          <a:p>
            <a:pPr indent="0" marL="0">
              <a:buNone/>
            </a:pPr>
            <a:r>
              <a:rPr lang="en-US" sz="2700" b="1" dirty="0">
                <a:solidFill>
                  <a:srgbClr val="5C1620"/>
                </a:solidFill>
                <a:latin typeface="Bookman Old Style" pitchFamily="34" charset="0"/>
                <a:ea typeface="Bookman Old Style" pitchFamily="34" charset="-122"/>
                <a:cs typeface="Bookman Old Style" pitchFamily="34" charset="-120"/>
              </a:rPr>
              <a:t>Now connect the pieces</a:t>
            </a:r>
            <a:endParaRPr lang="en-US" sz="2700" dirty="0"/>
          </a:p>
        </p:txBody>
      </p:sp>
      <p:sp>
        <p:nvSpPr>
          <p:cNvPr id="5" name="Shape 3"/>
          <p:cNvSpPr/>
          <p:nvPr/>
        </p:nvSpPr>
        <p:spPr>
          <a:xfrm>
            <a:off x="640080" y="1965960"/>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6" name="Text 4"/>
          <p:cNvSpPr/>
          <p:nvPr/>
        </p:nvSpPr>
        <p:spPr>
          <a:xfrm>
            <a:off x="822960" y="2103120"/>
            <a:ext cx="777240" cy="457200"/>
          </a:xfrm>
          <a:prstGeom prst="rect">
            <a:avLst/>
          </a:prstGeom>
          <a:noFill/>
          <a:ln/>
        </p:spPr>
        <p:txBody>
          <a:bodyPr wrap="square" lIns="0" tIns="0" rIns="0" bIns="0" rtlCol="0" anchor="t"/>
          <a:lstStyle/>
          <a:p>
            <a:pPr indent="0" marL="0">
              <a:buNone/>
            </a:pPr>
            <a:r>
              <a:rPr lang="en-US" sz="2300" b="1" dirty="0">
                <a:solidFill>
                  <a:srgbClr val="C0603A"/>
                </a:solidFill>
                <a:latin typeface="Bookman Old Style" pitchFamily="34" charset="0"/>
                <a:ea typeface="Bookman Old Style" pitchFamily="34" charset="-122"/>
                <a:cs typeface="Bookman Old Style" pitchFamily="34" charset="-120"/>
              </a:rPr>
              <a:t>Q1</a:t>
            </a:r>
            <a:endParaRPr lang="en-US" sz="2300" dirty="0"/>
          </a:p>
        </p:txBody>
      </p:sp>
      <p:sp>
        <p:nvSpPr>
          <p:cNvPr id="7" name="Text 5"/>
          <p:cNvSpPr/>
          <p:nvPr/>
        </p:nvSpPr>
        <p:spPr>
          <a:xfrm>
            <a:off x="1691640" y="2084832"/>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Why is the TCP handshake three steps, not two?</a:t>
            </a:r>
            <a:endParaRPr lang="en-US" sz="1500" dirty="0"/>
          </a:p>
        </p:txBody>
      </p:sp>
      <p:sp>
        <p:nvSpPr>
          <p:cNvPr id="8" name="Text 6"/>
          <p:cNvSpPr/>
          <p:nvPr/>
        </p:nvSpPr>
        <p:spPr>
          <a:xfrm>
            <a:off x="1691640" y="2468880"/>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Both sides must confirm they can send AND receive. Two steps would only verify one direction.</a:t>
            </a:r>
            <a:endParaRPr lang="en-US" sz="1250" dirty="0"/>
          </a:p>
        </p:txBody>
      </p:sp>
      <p:sp>
        <p:nvSpPr>
          <p:cNvPr id="9" name="Shape 7"/>
          <p:cNvSpPr/>
          <p:nvPr/>
        </p:nvSpPr>
        <p:spPr>
          <a:xfrm>
            <a:off x="640080" y="3099816"/>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0" name="Text 8"/>
          <p:cNvSpPr/>
          <p:nvPr/>
        </p:nvSpPr>
        <p:spPr>
          <a:xfrm>
            <a:off x="822960" y="3236976"/>
            <a:ext cx="777240" cy="457200"/>
          </a:xfrm>
          <a:prstGeom prst="rect">
            <a:avLst/>
          </a:prstGeom>
          <a:noFill/>
          <a:ln/>
        </p:spPr>
        <p:txBody>
          <a:bodyPr wrap="square" lIns="0" tIns="0" rIns="0" bIns="0" rtlCol="0" anchor="t"/>
          <a:lstStyle/>
          <a:p>
            <a:pPr indent="0" marL="0">
              <a:buNone/>
            </a:pPr>
            <a:r>
              <a:rPr lang="en-US" sz="2300" b="1" dirty="0">
                <a:solidFill>
                  <a:srgbClr val="C0603A"/>
                </a:solidFill>
                <a:latin typeface="Bookman Old Style" pitchFamily="34" charset="0"/>
                <a:ea typeface="Bookman Old Style" pitchFamily="34" charset="-122"/>
                <a:cs typeface="Bookman Old Style" pitchFamily="34" charset="-120"/>
              </a:rPr>
              <a:t>Q2</a:t>
            </a:r>
            <a:endParaRPr lang="en-US" sz="2300" dirty="0"/>
          </a:p>
        </p:txBody>
      </p:sp>
      <p:sp>
        <p:nvSpPr>
          <p:cNvPr id="11" name="Text 9"/>
          <p:cNvSpPr/>
          <p:nvPr/>
        </p:nvSpPr>
        <p:spPr>
          <a:xfrm>
            <a:off x="1691640" y="3218688"/>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A page loads slowly. Network is fast. What's likely wrong?</a:t>
            </a:r>
            <a:endParaRPr lang="en-US" sz="1500" dirty="0"/>
          </a:p>
        </p:txBody>
      </p:sp>
      <p:sp>
        <p:nvSpPr>
          <p:cNvPr id="12" name="Text 10"/>
          <p:cNvSpPr/>
          <p:nvPr/>
        </p:nvSpPr>
        <p:spPr>
          <a:xfrm>
            <a:off x="1691640" y="3602736"/>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The render path: large or render-blocking CSS/JavaScript stopping the browser from painting.</a:t>
            </a:r>
            <a:endParaRPr lang="en-US" sz="1250" dirty="0"/>
          </a:p>
        </p:txBody>
      </p:sp>
      <p:sp>
        <p:nvSpPr>
          <p:cNvPr id="13" name="Shape 11"/>
          <p:cNvSpPr/>
          <p:nvPr/>
        </p:nvSpPr>
        <p:spPr>
          <a:xfrm>
            <a:off x="640080" y="4233672"/>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4" name="Text 12"/>
          <p:cNvSpPr/>
          <p:nvPr/>
        </p:nvSpPr>
        <p:spPr>
          <a:xfrm>
            <a:off x="822960" y="4370832"/>
            <a:ext cx="777240" cy="457200"/>
          </a:xfrm>
          <a:prstGeom prst="rect">
            <a:avLst/>
          </a:prstGeom>
          <a:noFill/>
          <a:ln/>
        </p:spPr>
        <p:txBody>
          <a:bodyPr wrap="square" lIns="0" tIns="0" rIns="0" bIns="0" rtlCol="0" anchor="t"/>
          <a:lstStyle/>
          <a:p>
            <a:pPr indent="0" marL="0">
              <a:buNone/>
            </a:pPr>
            <a:r>
              <a:rPr lang="en-US" sz="2300" b="1" dirty="0">
                <a:solidFill>
                  <a:srgbClr val="C0603A"/>
                </a:solidFill>
                <a:latin typeface="Bookman Old Style" pitchFamily="34" charset="0"/>
                <a:ea typeface="Bookman Old Style" pitchFamily="34" charset="-122"/>
                <a:cs typeface="Bookman Old Style" pitchFamily="34" charset="-120"/>
              </a:rPr>
              <a:t>Q3</a:t>
            </a:r>
            <a:endParaRPr lang="en-US" sz="2300" dirty="0"/>
          </a:p>
        </p:txBody>
      </p:sp>
      <p:sp>
        <p:nvSpPr>
          <p:cNvPr id="15" name="Text 13"/>
          <p:cNvSpPr/>
          <p:nvPr/>
        </p:nvSpPr>
        <p:spPr>
          <a:xfrm>
            <a:off x="1691640" y="4352544"/>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What's the difference between GET and POST?</a:t>
            </a:r>
            <a:endParaRPr lang="en-US" sz="1500" dirty="0"/>
          </a:p>
        </p:txBody>
      </p:sp>
      <p:sp>
        <p:nvSpPr>
          <p:cNvPr id="16" name="Text 14"/>
          <p:cNvSpPr/>
          <p:nvPr/>
        </p:nvSpPr>
        <p:spPr>
          <a:xfrm>
            <a:off x="1691640" y="4736592"/>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GET reads data and is safe/repeatable; POST sends data to create or change something on the server.</a:t>
            </a:r>
            <a:endParaRPr lang="en-US" sz="1250" dirty="0"/>
          </a:p>
        </p:txBody>
      </p:sp>
      <p:sp>
        <p:nvSpPr>
          <p:cNvPr id="17" name="Shape 15"/>
          <p:cNvSpPr/>
          <p:nvPr/>
        </p:nvSpPr>
        <p:spPr>
          <a:xfrm>
            <a:off x="640080" y="5367528"/>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8" name="Text 16"/>
          <p:cNvSpPr/>
          <p:nvPr/>
        </p:nvSpPr>
        <p:spPr>
          <a:xfrm>
            <a:off x="822960" y="5504688"/>
            <a:ext cx="777240" cy="457200"/>
          </a:xfrm>
          <a:prstGeom prst="rect">
            <a:avLst/>
          </a:prstGeom>
          <a:noFill/>
          <a:ln/>
        </p:spPr>
        <p:txBody>
          <a:bodyPr wrap="square" lIns="0" tIns="0" rIns="0" bIns="0" rtlCol="0" anchor="t"/>
          <a:lstStyle/>
          <a:p>
            <a:pPr indent="0" marL="0">
              <a:buNone/>
            </a:pPr>
            <a:r>
              <a:rPr lang="en-US" sz="2300" b="1" dirty="0">
                <a:solidFill>
                  <a:srgbClr val="C0603A"/>
                </a:solidFill>
                <a:latin typeface="Bookman Old Style" pitchFamily="34" charset="0"/>
                <a:ea typeface="Bookman Old Style" pitchFamily="34" charset="-122"/>
                <a:cs typeface="Bookman Old Style" pitchFamily="34" charset="-120"/>
              </a:rPr>
              <a:t>Q4</a:t>
            </a:r>
            <a:endParaRPr lang="en-US" sz="2300" dirty="0"/>
          </a:p>
        </p:txBody>
      </p:sp>
      <p:sp>
        <p:nvSpPr>
          <p:cNvPr id="19" name="Text 17"/>
          <p:cNvSpPr/>
          <p:nvPr/>
        </p:nvSpPr>
        <p:spPr>
          <a:xfrm>
            <a:off x="1691640" y="5486400"/>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Why can't you trust validation done only on the client?</a:t>
            </a:r>
            <a:endParaRPr lang="en-US" sz="1500" dirty="0"/>
          </a:p>
        </p:txBody>
      </p:sp>
      <p:sp>
        <p:nvSpPr>
          <p:cNvPr id="20" name="Text 18"/>
          <p:cNvSpPr/>
          <p:nvPr/>
        </p:nvSpPr>
        <p:spPr>
          <a:xfrm>
            <a:off x="1691640" y="5870448"/>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The user controls the client and can bypass it. The server must re-validate because it holds the truth.</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640080" y="457200"/>
            <a:ext cx="2468880" cy="502920"/>
          </a:xfrm>
          <a:prstGeom prst="roundRect">
            <a:avLst>
              <a:gd name="adj" fmla="val 49091"/>
            </a:avLst>
          </a:prstGeom>
          <a:solidFill>
            <a:srgbClr val="7A1F2B"/>
          </a:solidFill>
          <a:ln/>
        </p:spPr>
      </p:sp>
      <p:sp>
        <p:nvSpPr>
          <p:cNvPr id="3" name="Text 1"/>
          <p:cNvSpPr/>
          <p:nvPr/>
        </p:nvSpPr>
        <p:spPr>
          <a:xfrm>
            <a:off x="640080" y="457200"/>
            <a:ext cx="2468880" cy="5029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ADVANCED</a:t>
            </a:r>
            <a:endParaRPr lang="en-US" sz="1300" dirty="0"/>
          </a:p>
        </p:txBody>
      </p:sp>
      <p:sp>
        <p:nvSpPr>
          <p:cNvPr id="4" name="Text 2"/>
          <p:cNvSpPr/>
          <p:nvPr/>
        </p:nvSpPr>
        <p:spPr>
          <a:xfrm>
            <a:off x="640080" y="1143000"/>
            <a:ext cx="10972800" cy="640080"/>
          </a:xfrm>
          <a:prstGeom prst="rect">
            <a:avLst/>
          </a:prstGeom>
          <a:noFill/>
          <a:ln/>
        </p:spPr>
        <p:txBody>
          <a:bodyPr wrap="square" lIns="0" tIns="0" rIns="0" bIns="0" rtlCol="0" anchor="ctr"/>
          <a:lstStyle/>
          <a:p>
            <a:pPr indent="0" marL="0">
              <a:buNone/>
            </a:pPr>
            <a:r>
              <a:rPr lang="en-US" sz="2700" b="1" dirty="0">
                <a:solidFill>
                  <a:srgbClr val="5C1620"/>
                </a:solidFill>
                <a:latin typeface="Bookman Old Style" pitchFamily="34" charset="0"/>
                <a:ea typeface="Bookman Old Style" pitchFamily="34" charset="-122"/>
                <a:cs typeface="Bookman Old Style" pitchFamily="34" charset="-120"/>
              </a:rPr>
              <a:t>Go deeper than the slides</a:t>
            </a:r>
            <a:endParaRPr lang="en-US" sz="2700" dirty="0"/>
          </a:p>
        </p:txBody>
      </p:sp>
      <p:sp>
        <p:nvSpPr>
          <p:cNvPr id="5" name="Shape 3"/>
          <p:cNvSpPr/>
          <p:nvPr/>
        </p:nvSpPr>
        <p:spPr>
          <a:xfrm>
            <a:off x="640080" y="1965960"/>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6" name="Text 4"/>
          <p:cNvSpPr/>
          <p:nvPr/>
        </p:nvSpPr>
        <p:spPr>
          <a:xfrm>
            <a:off x="822960" y="2103120"/>
            <a:ext cx="777240" cy="457200"/>
          </a:xfrm>
          <a:prstGeom prst="rect">
            <a:avLst/>
          </a:prstGeom>
          <a:noFill/>
          <a:ln/>
        </p:spPr>
        <p:txBody>
          <a:bodyPr wrap="square" lIns="0" tIns="0" rIns="0" bIns="0" rtlCol="0" anchor="t"/>
          <a:lstStyle/>
          <a:p>
            <a:pPr indent="0" marL="0">
              <a:buNone/>
            </a:pPr>
            <a:r>
              <a:rPr lang="en-US" sz="2300" b="1" dirty="0">
                <a:solidFill>
                  <a:srgbClr val="7A1F2B"/>
                </a:solidFill>
                <a:latin typeface="Bookman Old Style" pitchFamily="34" charset="0"/>
                <a:ea typeface="Bookman Old Style" pitchFamily="34" charset="-122"/>
                <a:cs typeface="Bookman Old Style" pitchFamily="34" charset="-120"/>
              </a:rPr>
              <a:t>Q1</a:t>
            </a:r>
            <a:endParaRPr lang="en-US" sz="2300" dirty="0"/>
          </a:p>
        </p:txBody>
      </p:sp>
      <p:sp>
        <p:nvSpPr>
          <p:cNvPr id="7" name="Text 5"/>
          <p:cNvSpPr/>
          <p:nvPr/>
        </p:nvSpPr>
        <p:spPr>
          <a:xfrm>
            <a:off x="1691640" y="2084832"/>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Why does DNS mostly use UDP instead of TCP?</a:t>
            </a:r>
            <a:endParaRPr lang="en-US" sz="1500" dirty="0"/>
          </a:p>
        </p:txBody>
      </p:sp>
      <p:sp>
        <p:nvSpPr>
          <p:cNvPr id="8" name="Text 6"/>
          <p:cNvSpPr/>
          <p:nvPr/>
        </p:nvSpPr>
        <p:spPr>
          <a:xfrm>
            <a:off x="1691640" y="2468880"/>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Lookups are tiny and frequent; UDP skips the handshake for speed. If the reply is too big, it falls back to TCP.</a:t>
            </a:r>
            <a:endParaRPr lang="en-US" sz="1250" dirty="0"/>
          </a:p>
        </p:txBody>
      </p:sp>
      <p:sp>
        <p:nvSpPr>
          <p:cNvPr id="9" name="Shape 7"/>
          <p:cNvSpPr/>
          <p:nvPr/>
        </p:nvSpPr>
        <p:spPr>
          <a:xfrm>
            <a:off x="640080" y="3099816"/>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0" name="Text 8"/>
          <p:cNvSpPr/>
          <p:nvPr/>
        </p:nvSpPr>
        <p:spPr>
          <a:xfrm>
            <a:off x="822960" y="3236976"/>
            <a:ext cx="777240" cy="457200"/>
          </a:xfrm>
          <a:prstGeom prst="rect">
            <a:avLst/>
          </a:prstGeom>
          <a:noFill/>
          <a:ln/>
        </p:spPr>
        <p:txBody>
          <a:bodyPr wrap="square" lIns="0" tIns="0" rIns="0" bIns="0" rtlCol="0" anchor="t"/>
          <a:lstStyle/>
          <a:p>
            <a:pPr indent="0" marL="0">
              <a:buNone/>
            </a:pPr>
            <a:r>
              <a:rPr lang="en-US" sz="2300" b="1" dirty="0">
                <a:solidFill>
                  <a:srgbClr val="7A1F2B"/>
                </a:solidFill>
                <a:latin typeface="Bookman Old Style" pitchFamily="34" charset="0"/>
                <a:ea typeface="Bookman Old Style" pitchFamily="34" charset="-122"/>
                <a:cs typeface="Bookman Old Style" pitchFamily="34" charset="-120"/>
              </a:rPr>
              <a:t>Q2</a:t>
            </a:r>
            <a:endParaRPr lang="en-US" sz="2300" dirty="0"/>
          </a:p>
        </p:txBody>
      </p:sp>
      <p:sp>
        <p:nvSpPr>
          <p:cNvPr id="11" name="Text 9"/>
          <p:cNvSpPr/>
          <p:nvPr/>
        </p:nvSpPr>
        <p:spPr>
          <a:xfrm>
            <a:off x="1691640" y="3218688"/>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 does the TTL on a DNS record actually control?</a:t>
            </a:r>
            <a:endParaRPr lang="en-US" sz="1500" dirty="0"/>
          </a:p>
        </p:txBody>
      </p:sp>
      <p:sp>
        <p:nvSpPr>
          <p:cNvPr id="12" name="Text 10"/>
          <p:cNvSpPr/>
          <p:nvPr/>
        </p:nvSpPr>
        <p:spPr>
          <a:xfrm>
            <a:off x="1691640" y="3602736"/>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How long resolvers may cache the answer before asking again. Low TTL = faster changes, more lookups.</a:t>
            </a:r>
            <a:endParaRPr lang="en-US" sz="1250" dirty="0"/>
          </a:p>
        </p:txBody>
      </p:sp>
      <p:sp>
        <p:nvSpPr>
          <p:cNvPr id="13" name="Shape 11"/>
          <p:cNvSpPr/>
          <p:nvPr/>
        </p:nvSpPr>
        <p:spPr>
          <a:xfrm>
            <a:off x="640080" y="4233672"/>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4" name="Text 12"/>
          <p:cNvSpPr/>
          <p:nvPr/>
        </p:nvSpPr>
        <p:spPr>
          <a:xfrm>
            <a:off x="822960" y="4370832"/>
            <a:ext cx="777240" cy="457200"/>
          </a:xfrm>
          <a:prstGeom prst="rect">
            <a:avLst/>
          </a:prstGeom>
          <a:noFill/>
          <a:ln/>
        </p:spPr>
        <p:txBody>
          <a:bodyPr wrap="square" lIns="0" tIns="0" rIns="0" bIns="0" rtlCol="0" anchor="t"/>
          <a:lstStyle/>
          <a:p>
            <a:pPr indent="0" marL="0">
              <a:buNone/>
            </a:pPr>
            <a:r>
              <a:rPr lang="en-US" sz="2300" b="1" dirty="0">
                <a:solidFill>
                  <a:srgbClr val="7A1F2B"/>
                </a:solidFill>
                <a:latin typeface="Bookman Old Style" pitchFamily="34" charset="0"/>
                <a:ea typeface="Bookman Old Style" pitchFamily="34" charset="-122"/>
                <a:cs typeface="Bookman Old Style" pitchFamily="34" charset="-120"/>
              </a:rPr>
              <a:t>Q3</a:t>
            </a:r>
            <a:endParaRPr lang="en-US" sz="2300" dirty="0"/>
          </a:p>
        </p:txBody>
      </p:sp>
      <p:sp>
        <p:nvSpPr>
          <p:cNvPr id="15" name="Text 13"/>
          <p:cNvSpPr/>
          <p:nvPr/>
        </p:nvSpPr>
        <p:spPr>
          <a:xfrm>
            <a:off x="1691640" y="4352544"/>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How does TLS use both asymmetric and symmetric crypto?</a:t>
            </a:r>
            <a:endParaRPr lang="en-US" sz="1500" dirty="0"/>
          </a:p>
        </p:txBody>
      </p:sp>
      <p:sp>
        <p:nvSpPr>
          <p:cNvPr id="16" name="Text 14"/>
          <p:cNvSpPr/>
          <p:nvPr/>
        </p:nvSpPr>
        <p:spPr>
          <a:xfrm>
            <a:off x="1691640" y="4736592"/>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Slow public-key crypto securely exchanges a shared key; fast symmetric crypto then encrypts the real traffic.</a:t>
            </a:r>
            <a:endParaRPr lang="en-US" sz="1250" dirty="0"/>
          </a:p>
        </p:txBody>
      </p:sp>
      <p:sp>
        <p:nvSpPr>
          <p:cNvPr id="17" name="Shape 15"/>
          <p:cNvSpPr/>
          <p:nvPr/>
        </p:nvSpPr>
        <p:spPr>
          <a:xfrm>
            <a:off x="640080" y="5367528"/>
            <a:ext cx="10927080" cy="987552"/>
          </a:xfrm>
          <a:prstGeom prst="roundRect">
            <a:avLst>
              <a:gd name="adj" fmla="val 5556"/>
            </a:avLst>
          </a:prstGeom>
          <a:solidFill>
            <a:srgbClr val="FFFFFF"/>
          </a:solidFill>
          <a:ln/>
          <a:effectLst>
            <a:outerShdw sx="100000" sy="100000" kx="0" ky="0" algn="bl" rotWithShape="0" blurRad="63500" dist="25400" dir="5400000">
              <a:srgbClr val="000000">
                <a:alpha val="10000"/>
              </a:srgbClr>
            </a:outerShdw>
          </a:effectLst>
        </p:spPr>
      </p:sp>
      <p:sp>
        <p:nvSpPr>
          <p:cNvPr id="18" name="Text 16"/>
          <p:cNvSpPr/>
          <p:nvPr/>
        </p:nvSpPr>
        <p:spPr>
          <a:xfrm>
            <a:off x="822960" y="5504688"/>
            <a:ext cx="777240" cy="457200"/>
          </a:xfrm>
          <a:prstGeom prst="rect">
            <a:avLst/>
          </a:prstGeom>
          <a:noFill/>
          <a:ln/>
        </p:spPr>
        <p:txBody>
          <a:bodyPr wrap="square" lIns="0" tIns="0" rIns="0" bIns="0" rtlCol="0" anchor="t"/>
          <a:lstStyle/>
          <a:p>
            <a:pPr indent="0" marL="0">
              <a:buNone/>
            </a:pPr>
            <a:r>
              <a:rPr lang="en-US" sz="2300" b="1" dirty="0">
                <a:solidFill>
                  <a:srgbClr val="7A1F2B"/>
                </a:solidFill>
                <a:latin typeface="Bookman Old Style" pitchFamily="34" charset="0"/>
                <a:ea typeface="Bookman Old Style" pitchFamily="34" charset="-122"/>
                <a:cs typeface="Bookman Old Style" pitchFamily="34" charset="-120"/>
              </a:rPr>
              <a:t>Q4</a:t>
            </a:r>
            <a:endParaRPr lang="en-US" sz="2300" dirty="0"/>
          </a:p>
        </p:txBody>
      </p:sp>
      <p:sp>
        <p:nvSpPr>
          <p:cNvPr id="19" name="Text 17"/>
          <p:cNvSpPr/>
          <p:nvPr/>
        </p:nvSpPr>
        <p:spPr>
          <a:xfrm>
            <a:off x="1691640" y="5486400"/>
            <a:ext cx="9692640" cy="365760"/>
          </a:xfrm>
          <a:prstGeom prst="rect">
            <a:avLst/>
          </a:prstGeom>
          <a:noFill/>
          <a:ln/>
        </p:spPr>
        <p:txBody>
          <a:bodyPr wrap="square" lIns="0" tIns="0" rIns="0" bIns="0" rtlCol="0" anchor="t"/>
          <a:lstStyle/>
          <a:p>
            <a:pPr indent="0" marL="0">
              <a:buNone/>
            </a:pPr>
            <a:r>
              <a:rPr lang="en-US" sz="1500" b="1" dirty="0">
                <a:solidFill>
                  <a:srgbClr val="201A1B"/>
                </a:solidFill>
                <a:latin typeface="Calibri" pitchFamily="34" charset="0"/>
                <a:ea typeface="Calibri" pitchFamily="34" charset="-122"/>
                <a:cs typeface="Calibri" pitchFamily="34" charset="-120"/>
              </a:rPr>
              <a:t>What is the critical rendering path, and why care?</a:t>
            </a:r>
            <a:endParaRPr lang="en-US" sz="1500" dirty="0"/>
          </a:p>
        </p:txBody>
      </p:sp>
      <p:sp>
        <p:nvSpPr>
          <p:cNvPr id="20" name="Text 18"/>
          <p:cNvSpPr/>
          <p:nvPr/>
        </p:nvSpPr>
        <p:spPr>
          <a:xfrm>
            <a:off x="1691640" y="5870448"/>
            <a:ext cx="9692640" cy="438912"/>
          </a:xfrm>
          <a:prstGeom prst="rect">
            <a:avLst/>
          </a:prstGeom>
          <a:noFill/>
          <a:ln/>
        </p:spPr>
        <p:txBody>
          <a:bodyPr wrap="square" lIns="0" tIns="0" rIns="0" bIns="0" rtlCol="0" anchor="t"/>
          <a:lstStyle/>
          <a:p>
            <a:pPr indent="0" marL="0">
              <a:lnSpc>
                <a:spcPct val="100000"/>
              </a:lnSpc>
              <a:buNone/>
            </a:pPr>
            <a:r>
              <a:rPr lang="en-US" sz="1250" b="1" dirty="0">
                <a:solidFill>
                  <a:srgbClr val="2E7D5B"/>
                </a:solidFill>
                <a:latin typeface="Calibri" pitchFamily="34" charset="0"/>
                <a:ea typeface="Calibri" pitchFamily="34" charset="-122"/>
                <a:cs typeface="Calibri" pitchFamily="34" charset="-120"/>
              </a:rPr>
              <a:t>Answer: </a:t>
            </a:r>
            <a:pPr indent="0" marL="0">
              <a:lnSpc>
                <a:spcPct val="100000"/>
              </a:lnSpc>
              <a:buNone/>
            </a:pPr>
            <a:r>
              <a:rPr lang="en-US" sz="1250" dirty="0">
                <a:solidFill>
                  <a:srgbClr val="6E6463"/>
                </a:solidFill>
                <a:latin typeface="Calibri" pitchFamily="34" charset="0"/>
                <a:ea typeface="Calibri" pitchFamily="34" charset="-122"/>
                <a:cs typeface="Calibri" pitchFamily="34" charset="-120"/>
              </a:rPr>
              <a:t>DOM + CSSOM to layout to paint. Optimizing it is how you make pages feel fast, independent of network.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C1620"/>
        </a:solidFill>
      </p:bgPr>
    </p:bg>
    <p:spTree>
      <p:nvGrpSpPr>
        <p:cNvPr id="1" name=""/>
        <p:cNvGrpSpPr/>
        <p:nvPr/>
      </p:nvGrpSpPr>
      <p:grpSpPr>
        <a:xfrm>
          <a:off x="0" y="0"/>
          <a:ext cx="0" cy="0"/>
          <a:chOff x="0" y="0"/>
          <a:chExt cx="0" cy="0"/>
        </a:xfrm>
      </p:grpSpPr>
      <p:sp>
        <p:nvSpPr>
          <p:cNvPr id="2" name="Shape 0"/>
          <p:cNvSpPr/>
          <p:nvPr/>
        </p:nvSpPr>
        <p:spPr>
          <a:xfrm>
            <a:off x="640080" y="502920"/>
            <a:ext cx="2194560" cy="502920"/>
          </a:xfrm>
          <a:prstGeom prst="roundRect">
            <a:avLst>
              <a:gd name="adj" fmla="val 49091"/>
            </a:avLst>
          </a:prstGeom>
          <a:solidFill>
            <a:srgbClr val="E0A93B"/>
          </a:solidFill>
          <a:ln/>
        </p:spPr>
      </p:sp>
      <p:sp>
        <p:nvSpPr>
          <p:cNvPr id="3" name="Text 1"/>
          <p:cNvSpPr/>
          <p:nvPr/>
        </p:nvSpPr>
        <p:spPr>
          <a:xfrm>
            <a:off x="640080" y="502920"/>
            <a:ext cx="2194560" cy="502920"/>
          </a:xfrm>
          <a:prstGeom prst="rect">
            <a:avLst/>
          </a:prstGeom>
          <a:noFill/>
          <a:ln/>
        </p:spPr>
        <p:txBody>
          <a:bodyPr wrap="square" lIns="0" tIns="0" rIns="0" bIns="0" rtlCol="0" anchor="ctr"/>
          <a:lstStyle/>
          <a:p>
            <a:pPr algn="ctr" indent="0" marL="0">
              <a:buNone/>
            </a:pPr>
            <a:r>
              <a:rPr lang="en-US" sz="1300" b="1" spc="200" kern="0" dirty="0">
                <a:solidFill>
                  <a:srgbClr val="5C1620"/>
                </a:solidFill>
                <a:latin typeface="Calibri" pitchFamily="34" charset="0"/>
                <a:ea typeface="Calibri" pitchFamily="34" charset="-122"/>
                <a:cs typeface="Calibri" pitchFamily="34" charset="-120"/>
              </a:rPr>
              <a:t>CHALLENGE</a:t>
            </a:r>
            <a:endParaRPr lang="en-US" sz="1300" dirty="0"/>
          </a:p>
        </p:txBody>
      </p:sp>
      <p:sp>
        <p:nvSpPr>
          <p:cNvPr id="4" name="Text 2"/>
          <p:cNvSpPr/>
          <p:nvPr/>
        </p:nvSpPr>
        <p:spPr>
          <a:xfrm>
            <a:off x="713232" y="118872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Trace the whole journey out loud</a:t>
            </a:r>
            <a:endParaRPr lang="en-US" sz="3000" dirty="0"/>
          </a:p>
        </p:txBody>
      </p:sp>
      <p:sp>
        <p:nvSpPr>
          <p:cNvPr id="5" name="Text 3"/>
          <p:cNvSpPr/>
          <p:nvPr/>
        </p:nvSpPr>
        <p:spPr>
          <a:xfrm>
            <a:off x="731520" y="1920240"/>
            <a:ext cx="10515600" cy="731520"/>
          </a:xfrm>
          <a:prstGeom prst="rect">
            <a:avLst/>
          </a:prstGeom>
          <a:noFill/>
          <a:ln/>
        </p:spPr>
        <p:txBody>
          <a:bodyPr wrap="square" lIns="0" tIns="0" rIns="0" bIns="0" rtlCol="0" anchor="ctr"/>
          <a:lstStyle/>
          <a:p>
            <a:pPr indent="0" marL="0">
              <a:buNone/>
            </a:pPr>
            <a:r>
              <a:rPr lang="en-US" sz="1600" i="1" dirty="0">
                <a:solidFill>
                  <a:srgbClr val="F0DCD0"/>
                </a:solidFill>
                <a:latin typeface="Calibri" pitchFamily="34" charset="0"/>
                <a:ea typeface="Calibri" pitchFamily="34" charset="-122"/>
                <a:cs typeface="Calibri" pitchFamily="34" charset="-120"/>
              </a:rPr>
              <a:t>No notes. Walk me through everything that happens, in order, from the moment you press Enter to the moment you see the page:</a:t>
            </a:r>
            <a:endParaRPr lang="en-US" sz="1600" dirty="0"/>
          </a:p>
        </p:txBody>
      </p:sp>
      <p:sp>
        <p:nvSpPr>
          <p:cNvPr id="6" name="Shape 4"/>
          <p:cNvSpPr/>
          <p:nvPr/>
        </p:nvSpPr>
        <p:spPr>
          <a:xfrm>
            <a:off x="731520" y="2743200"/>
            <a:ext cx="10698480" cy="640080"/>
          </a:xfrm>
          <a:prstGeom prst="roundRect">
            <a:avLst>
              <a:gd name="adj" fmla="val 14286"/>
            </a:avLst>
          </a:prstGeom>
          <a:solidFill>
            <a:srgbClr val="2B2424"/>
          </a:solidFill>
          <a:ln/>
        </p:spPr>
      </p:sp>
      <p:pic>
        <p:nvPicPr>
          <p:cNvPr id="7" name="Image 0" descr="images/icon_lock.png">    </p:cNvPr>
          <p:cNvPicPr>
            <a:picLocks noChangeAspect="1"/>
          </p:cNvPicPr>
          <p:nvPr/>
        </p:nvPicPr>
        <p:blipFill>
          <a:blip r:embed="rId1"/>
          <a:stretch>
            <a:fillRect/>
          </a:stretch>
        </p:blipFill>
        <p:spPr>
          <a:xfrm>
            <a:off x="914400" y="2926080"/>
            <a:ext cx="256032" cy="256032"/>
          </a:xfrm>
          <a:prstGeom prst="rect">
            <a:avLst/>
          </a:prstGeom>
        </p:spPr>
      </p:pic>
      <p:sp>
        <p:nvSpPr>
          <p:cNvPr id="8" name="Text 5"/>
          <p:cNvSpPr/>
          <p:nvPr/>
        </p:nvSpPr>
        <p:spPr>
          <a:xfrm>
            <a:off x="1325880" y="2743200"/>
            <a:ext cx="9875520" cy="640080"/>
          </a:xfrm>
          <a:prstGeom prst="rect">
            <a:avLst/>
          </a:prstGeom>
          <a:noFill/>
          <a:ln/>
        </p:spPr>
        <p:txBody>
          <a:bodyPr wrap="square" lIns="0" tIns="0" rIns="0" bIns="0" rtlCol="0" anchor="ctr"/>
          <a:lstStyle/>
          <a:p>
            <a:pPr indent="0" marL="0">
              <a:buNone/>
            </a:pPr>
            <a:r>
              <a:rPr lang="en-US" sz="1700" dirty="0">
                <a:solidFill>
                  <a:srgbClr val="9FE0A8"/>
                </a:solidFill>
                <a:latin typeface="Courier New" pitchFamily="34" charset="0"/>
                <a:ea typeface="Courier New" pitchFamily="34" charset="-122"/>
                <a:cs typeface="Courier New" pitchFamily="34" charset="-120"/>
              </a:rPr>
              <a:t>https://shorterloop.com/login</a:t>
            </a:r>
            <a:endParaRPr lang="en-US" sz="1700" dirty="0"/>
          </a:p>
        </p:txBody>
      </p:sp>
      <p:sp>
        <p:nvSpPr>
          <p:cNvPr id="9" name="Shape 6"/>
          <p:cNvSpPr/>
          <p:nvPr/>
        </p:nvSpPr>
        <p:spPr>
          <a:xfrm>
            <a:off x="822960" y="3657600"/>
            <a:ext cx="365760" cy="365760"/>
          </a:xfrm>
          <a:prstGeom prst="ellipse">
            <a:avLst/>
          </a:prstGeom>
          <a:solidFill>
            <a:srgbClr val="E0A93B"/>
          </a:solidFill>
          <a:ln/>
        </p:spPr>
      </p:sp>
      <p:sp>
        <p:nvSpPr>
          <p:cNvPr id="10" name="Text 7"/>
          <p:cNvSpPr/>
          <p:nvPr/>
        </p:nvSpPr>
        <p:spPr>
          <a:xfrm>
            <a:off x="822960" y="3657600"/>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325880" y="3657600"/>
            <a:ext cx="484632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DNS resolves the domain to an IP</a:t>
            </a:r>
            <a:endParaRPr lang="en-US" sz="1350" dirty="0"/>
          </a:p>
        </p:txBody>
      </p:sp>
      <p:sp>
        <p:nvSpPr>
          <p:cNvPr id="12" name="Shape 9"/>
          <p:cNvSpPr/>
          <p:nvPr/>
        </p:nvSpPr>
        <p:spPr>
          <a:xfrm>
            <a:off x="822960" y="4224528"/>
            <a:ext cx="365760" cy="365760"/>
          </a:xfrm>
          <a:prstGeom prst="ellipse">
            <a:avLst/>
          </a:prstGeom>
          <a:solidFill>
            <a:srgbClr val="E0A93B"/>
          </a:solidFill>
          <a:ln/>
        </p:spPr>
      </p:sp>
      <p:sp>
        <p:nvSpPr>
          <p:cNvPr id="13" name="Text 10"/>
          <p:cNvSpPr/>
          <p:nvPr/>
        </p:nvSpPr>
        <p:spPr>
          <a:xfrm>
            <a:off x="822960" y="4224528"/>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325880" y="4224528"/>
            <a:ext cx="484632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TCP three-way handshake opens the connection</a:t>
            </a:r>
            <a:endParaRPr lang="en-US" sz="1350" dirty="0"/>
          </a:p>
        </p:txBody>
      </p:sp>
      <p:sp>
        <p:nvSpPr>
          <p:cNvPr id="15" name="Shape 12"/>
          <p:cNvSpPr/>
          <p:nvPr/>
        </p:nvSpPr>
        <p:spPr>
          <a:xfrm>
            <a:off x="822960" y="4791456"/>
            <a:ext cx="365760" cy="365760"/>
          </a:xfrm>
          <a:prstGeom prst="ellipse">
            <a:avLst/>
          </a:prstGeom>
          <a:solidFill>
            <a:srgbClr val="E0A93B"/>
          </a:solidFill>
          <a:ln/>
        </p:spPr>
      </p:sp>
      <p:sp>
        <p:nvSpPr>
          <p:cNvPr id="16" name="Text 13"/>
          <p:cNvSpPr/>
          <p:nvPr/>
        </p:nvSpPr>
        <p:spPr>
          <a:xfrm>
            <a:off x="822960" y="4791456"/>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325880" y="4791456"/>
            <a:ext cx="484632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TLS handshake encrypts it and verifies the certificate</a:t>
            </a:r>
            <a:endParaRPr lang="en-US" sz="1350" dirty="0"/>
          </a:p>
        </p:txBody>
      </p:sp>
      <p:sp>
        <p:nvSpPr>
          <p:cNvPr id="18" name="Shape 15"/>
          <p:cNvSpPr/>
          <p:nvPr/>
        </p:nvSpPr>
        <p:spPr>
          <a:xfrm>
            <a:off x="822960" y="5358384"/>
            <a:ext cx="365760" cy="365760"/>
          </a:xfrm>
          <a:prstGeom prst="ellipse">
            <a:avLst/>
          </a:prstGeom>
          <a:solidFill>
            <a:srgbClr val="E0A93B"/>
          </a:solidFill>
          <a:ln/>
        </p:spPr>
      </p:sp>
      <p:sp>
        <p:nvSpPr>
          <p:cNvPr id="19" name="Text 16"/>
          <p:cNvSpPr/>
          <p:nvPr/>
        </p:nvSpPr>
        <p:spPr>
          <a:xfrm>
            <a:off x="822960" y="5358384"/>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325880" y="5358384"/>
            <a:ext cx="484632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Browser sends an HTTP GET request</a:t>
            </a:r>
            <a:endParaRPr lang="en-US" sz="1350" dirty="0"/>
          </a:p>
        </p:txBody>
      </p:sp>
      <p:sp>
        <p:nvSpPr>
          <p:cNvPr id="21" name="Shape 18"/>
          <p:cNvSpPr/>
          <p:nvPr/>
        </p:nvSpPr>
        <p:spPr>
          <a:xfrm>
            <a:off x="6309360" y="3657600"/>
            <a:ext cx="365760" cy="365760"/>
          </a:xfrm>
          <a:prstGeom prst="ellipse">
            <a:avLst/>
          </a:prstGeom>
          <a:solidFill>
            <a:srgbClr val="E0A93B"/>
          </a:solidFill>
          <a:ln/>
        </p:spPr>
      </p:sp>
      <p:sp>
        <p:nvSpPr>
          <p:cNvPr id="22" name="Text 19"/>
          <p:cNvSpPr/>
          <p:nvPr/>
        </p:nvSpPr>
        <p:spPr>
          <a:xfrm>
            <a:off x="6309360" y="3657600"/>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5</a:t>
            </a:r>
            <a:endParaRPr lang="en-US" sz="1400" dirty="0"/>
          </a:p>
        </p:txBody>
      </p:sp>
      <p:sp>
        <p:nvSpPr>
          <p:cNvPr id="23" name="Text 20"/>
          <p:cNvSpPr/>
          <p:nvPr/>
        </p:nvSpPr>
        <p:spPr>
          <a:xfrm>
            <a:off x="6812280" y="3657600"/>
            <a:ext cx="50292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Server runs backend code, maybe hits the database</a:t>
            </a:r>
            <a:endParaRPr lang="en-US" sz="1350" dirty="0"/>
          </a:p>
        </p:txBody>
      </p:sp>
      <p:sp>
        <p:nvSpPr>
          <p:cNvPr id="24" name="Shape 21"/>
          <p:cNvSpPr/>
          <p:nvPr/>
        </p:nvSpPr>
        <p:spPr>
          <a:xfrm>
            <a:off x="6309360" y="4224528"/>
            <a:ext cx="365760" cy="365760"/>
          </a:xfrm>
          <a:prstGeom prst="ellipse">
            <a:avLst/>
          </a:prstGeom>
          <a:solidFill>
            <a:srgbClr val="E0A93B"/>
          </a:solidFill>
          <a:ln/>
        </p:spPr>
      </p:sp>
      <p:sp>
        <p:nvSpPr>
          <p:cNvPr id="25" name="Text 22"/>
          <p:cNvSpPr/>
          <p:nvPr/>
        </p:nvSpPr>
        <p:spPr>
          <a:xfrm>
            <a:off x="6309360" y="4224528"/>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6</a:t>
            </a:r>
            <a:endParaRPr lang="en-US" sz="1400" dirty="0"/>
          </a:p>
        </p:txBody>
      </p:sp>
      <p:sp>
        <p:nvSpPr>
          <p:cNvPr id="26" name="Text 23"/>
          <p:cNvSpPr/>
          <p:nvPr/>
        </p:nvSpPr>
        <p:spPr>
          <a:xfrm>
            <a:off x="6812280" y="4224528"/>
            <a:ext cx="50292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Server responds with HTML, CSS, JavaScript</a:t>
            </a:r>
            <a:endParaRPr lang="en-US" sz="1350" dirty="0"/>
          </a:p>
        </p:txBody>
      </p:sp>
      <p:sp>
        <p:nvSpPr>
          <p:cNvPr id="27" name="Shape 24"/>
          <p:cNvSpPr/>
          <p:nvPr/>
        </p:nvSpPr>
        <p:spPr>
          <a:xfrm>
            <a:off x="6309360" y="4791456"/>
            <a:ext cx="365760" cy="365760"/>
          </a:xfrm>
          <a:prstGeom prst="ellipse">
            <a:avLst/>
          </a:prstGeom>
          <a:solidFill>
            <a:srgbClr val="E0A93B"/>
          </a:solidFill>
          <a:ln/>
        </p:spPr>
      </p:sp>
      <p:sp>
        <p:nvSpPr>
          <p:cNvPr id="28" name="Text 25"/>
          <p:cNvSpPr/>
          <p:nvPr/>
        </p:nvSpPr>
        <p:spPr>
          <a:xfrm>
            <a:off x="6309360" y="4791456"/>
            <a:ext cx="365760" cy="365760"/>
          </a:xfrm>
          <a:prstGeom prst="rect">
            <a:avLst/>
          </a:prstGeom>
          <a:noFill/>
          <a:ln/>
        </p:spPr>
        <p:txBody>
          <a:bodyPr wrap="square" lIns="0" tIns="0" rIns="0" bIns="0" rtlCol="0" anchor="ctr"/>
          <a:lstStyle/>
          <a:p>
            <a:pPr algn="ctr" indent="0" marL="0">
              <a:buNone/>
            </a:pPr>
            <a:r>
              <a:rPr lang="en-US" sz="1400" b="1" dirty="0">
                <a:solidFill>
                  <a:srgbClr val="5C1620"/>
                </a:solidFill>
                <a:latin typeface="Calibri" pitchFamily="34" charset="0"/>
                <a:ea typeface="Calibri" pitchFamily="34" charset="-122"/>
                <a:cs typeface="Calibri" pitchFamily="34" charset="-120"/>
              </a:rPr>
              <a:t>7</a:t>
            </a:r>
            <a:endParaRPr lang="en-US" sz="1400" dirty="0"/>
          </a:p>
        </p:txBody>
      </p:sp>
      <p:sp>
        <p:nvSpPr>
          <p:cNvPr id="29" name="Text 26"/>
          <p:cNvSpPr/>
          <p:nvPr/>
        </p:nvSpPr>
        <p:spPr>
          <a:xfrm>
            <a:off x="6812280" y="4791456"/>
            <a:ext cx="50292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Browser parses, lays out, paints: DOM to CSSOM to pixels</a:t>
            </a:r>
            <a:endParaRPr lang="en-US" sz="1350" dirty="0"/>
          </a:p>
        </p:txBody>
      </p:sp>
      <p:sp>
        <p:nvSpPr>
          <p:cNvPr id="30" name="Text 27"/>
          <p:cNvSpPr/>
          <p:nvPr/>
        </p:nvSpPr>
        <p:spPr>
          <a:xfrm>
            <a:off x="731520" y="6126480"/>
            <a:ext cx="10515600" cy="457200"/>
          </a:xfrm>
          <a:prstGeom prst="rect">
            <a:avLst/>
          </a:prstGeom>
          <a:noFill/>
          <a:ln/>
        </p:spPr>
        <p:txBody>
          <a:bodyPr wrap="square" lIns="0" tIns="0" rIns="0" bIns="0" rtlCol="0" anchor="ctr"/>
          <a:lstStyle/>
          <a:p>
            <a:pPr indent="0" marL="0">
              <a:buNone/>
            </a:pPr>
            <a:r>
              <a:rPr lang="en-US" sz="1350" i="1" dirty="0">
                <a:solidFill>
                  <a:srgbClr val="F0DCD0"/>
                </a:solidFill>
                <a:latin typeface="Calibri" pitchFamily="34" charset="0"/>
                <a:ea typeface="Calibri" pitchFamily="34" charset="-122"/>
                <a:cs typeface="Calibri" pitchFamily="34" charset="-120"/>
              </a:rPr>
              <a:t>If you can explain this clearly, you understand the web better than most graduates. That's the bar.</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C0603A"/>
                </a:solidFill>
                <a:latin typeface="Calibri" pitchFamily="34" charset="0"/>
                <a:ea typeface="Calibri" pitchFamily="34" charset="-122"/>
                <a:cs typeface="Calibri" pitchFamily="34" charset="-120"/>
              </a:rPr>
              <a:t>BEFORE YOU LEAVE TODAY</a:t>
            </a:r>
            <a:endParaRPr lang="en-US" sz="1300" dirty="0"/>
          </a:p>
        </p:txBody>
      </p:sp>
      <p:sp>
        <p:nvSpPr>
          <p:cNvPr id="3" name="Text 1"/>
          <p:cNvSpPr/>
          <p:nvPr/>
        </p:nvSpPr>
        <p:spPr>
          <a:xfrm>
            <a:off x="640080" y="713232"/>
            <a:ext cx="10972800" cy="822960"/>
          </a:xfrm>
          <a:prstGeom prst="rect">
            <a:avLst/>
          </a:prstGeom>
          <a:noFill/>
          <a:ln/>
        </p:spPr>
        <p:txBody>
          <a:bodyPr wrap="square" lIns="0" tIns="0" rIns="0" bIns="0" rtlCol="0" anchor="ctr"/>
          <a:lstStyle/>
          <a:p>
            <a:pPr indent="0" marL="0">
              <a:buNone/>
            </a:pPr>
            <a:r>
              <a:rPr lang="en-US" sz="3000" b="1" dirty="0">
                <a:solidFill>
                  <a:srgbClr val="5C1620"/>
                </a:solidFill>
                <a:latin typeface="Bookman Old Style" pitchFamily="34" charset="0"/>
                <a:ea typeface="Bookman Old Style" pitchFamily="34" charset="-122"/>
                <a:cs typeface="Bookman Old Style" pitchFamily="34" charset="-120"/>
              </a:rPr>
              <a:t>Your Day 2 task: watch it happen</a:t>
            </a:r>
            <a:endParaRPr lang="en-US" sz="3000" dirty="0"/>
          </a:p>
        </p:txBody>
      </p:sp>
      <p:sp>
        <p:nvSpPr>
          <p:cNvPr id="4" name="Text 2"/>
          <p:cNvSpPr/>
          <p:nvPr/>
        </p:nvSpPr>
        <p:spPr>
          <a:xfrm>
            <a:off x="640080" y="1783080"/>
            <a:ext cx="5760720" cy="1005840"/>
          </a:xfrm>
          <a:prstGeom prst="rect">
            <a:avLst/>
          </a:prstGeom>
          <a:noFill/>
          <a:ln/>
        </p:spPr>
        <p:txBody>
          <a:bodyPr wrap="square" lIns="0" tIns="0" rIns="0" bIns="0" rtlCol="0" anchor="ctr"/>
          <a:lstStyle/>
          <a:p>
            <a:pPr indent="0" marL="0">
              <a:lnSpc>
                <a:spcPct val="125000"/>
              </a:lnSpc>
              <a:buNone/>
            </a:pPr>
            <a:r>
              <a:rPr lang="en-US" sz="1600" dirty="0">
                <a:solidFill>
                  <a:srgbClr val="201A1B"/>
                </a:solidFill>
                <a:latin typeface="Calibri" pitchFamily="34" charset="0"/>
                <a:ea typeface="Calibri" pitchFamily="34" charset="-122"/>
                <a:cs typeface="Calibri" pitchFamily="34" charset="-120"/>
              </a:rPr>
              <a:t>You don't have to take my word for any of this. Your browser ships with a tool that shows you every request in real time. Today you go look.</a:t>
            </a:r>
            <a:endParaRPr lang="en-US" sz="1600" dirty="0"/>
          </a:p>
        </p:txBody>
      </p:sp>
      <p:sp>
        <p:nvSpPr>
          <p:cNvPr id="5" name="Shape 3"/>
          <p:cNvSpPr/>
          <p:nvPr/>
        </p:nvSpPr>
        <p:spPr>
          <a:xfrm>
            <a:off x="640080" y="3154680"/>
            <a:ext cx="548640" cy="548640"/>
          </a:xfrm>
          <a:prstGeom prst="ellipse">
            <a:avLst/>
          </a:prstGeom>
          <a:solidFill>
            <a:srgbClr val="5C1620"/>
          </a:solidFill>
          <a:ln/>
        </p:spPr>
      </p:sp>
      <p:sp>
        <p:nvSpPr>
          <p:cNvPr id="6" name="Text 4"/>
          <p:cNvSpPr/>
          <p:nvPr/>
        </p:nvSpPr>
        <p:spPr>
          <a:xfrm>
            <a:off x="640080" y="31546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371600" y="3118104"/>
            <a:ext cx="5029200" cy="365760"/>
          </a:xfrm>
          <a:prstGeom prst="rect">
            <a:avLst/>
          </a:prstGeom>
          <a:noFill/>
          <a:ln/>
        </p:spPr>
        <p:txBody>
          <a:bodyPr wrap="square" lIns="0" tIns="0" rIns="0" bIns="0" rtlCol="0" anchor="ctr"/>
          <a:lstStyle/>
          <a:p>
            <a:pPr indent="0" marL="0">
              <a:buNone/>
            </a:pPr>
            <a:r>
              <a:rPr lang="en-US" sz="1600" b="1" dirty="0">
                <a:solidFill>
                  <a:srgbClr val="5C1620"/>
                </a:solidFill>
                <a:latin typeface="Calibri" pitchFamily="34" charset="0"/>
                <a:ea typeface="Calibri" pitchFamily="34" charset="-122"/>
                <a:cs typeface="Calibri" pitchFamily="34" charset="-120"/>
              </a:rPr>
              <a:t>Open DevTools</a:t>
            </a:r>
            <a:endParaRPr lang="en-US" sz="1600" dirty="0"/>
          </a:p>
        </p:txBody>
      </p:sp>
      <p:sp>
        <p:nvSpPr>
          <p:cNvPr id="8" name="Text 6"/>
          <p:cNvSpPr/>
          <p:nvPr/>
        </p:nvSpPr>
        <p:spPr>
          <a:xfrm>
            <a:off x="1371600" y="3483864"/>
            <a:ext cx="5029200" cy="54864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On any website, press F12 (or right-click → Inspect). Click the Network tab.</a:t>
            </a:r>
            <a:endParaRPr lang="en-US" sz="1250" dirty="0"/>
          </a:p>
        </p:txBody>
      </p:sp>
      <p:sp>
        <p:nvSpPr>
          <p:cNvPr id="9" name="Shape 7"/>
          <p:cNvSpPr/>
          <p:nvPr/>
        </p:nvSpPr>
        <p:spPr>
          <a:xfrm>
            <a:off x="640080" y="4114800"/>
            <a:ext cx="548640" cy="548640"/>
          </a:xfrm>
          <a:prstGeom prst="ellipse">
            <a:avLst/>
          </a:prstGeom>
          <a:solidFill>
            <a:srgbClr val="5C1620"/>
          </a:solidFill>
          <a:ln/>
        </p:spPr>
      </p:sp>
      <p:sp>
        <p:nvSpPr>
          <p:cNvPr id="10" name="Text 8"/>
          <p:cNvSpPr/>
          <p:nvPr/>
        </p:nvSpPr>
        <p:spPr>
          <a:xfrm>
            <a:off x="640080" y="4114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1371600" y="4078224"/>
            <a:ext cx="5029200" cy="365760"/>
          </a:xfrm>
          <a:prstGeom prst="rect">
            <a:avLst/>
          </a:prstGeom>
          <a:noFill/>
          <a:ln/>
        </p:spPr>
        <p:txBody>
          <a:bodyPr wrap="square" lIns="0" tIns="0" rIns="0" bIns="0" rtlCol="0" anchor="ctr"/>
          <a:lstStyle/>
          <a:p>
            <a:pPr indent="0" marL="0">
              <a:buNone/>
            </a:pPr>
            <a:r>
              <a:rPr lang="en-US" sz="1600" b="1" dirty="0">
                <a:solidFill>
                  <a:srgbClr val="5C1620"/>
                </a:solidFill>
                <a:latin typeface="Calibri" pitchFamily="34" charset="0"/>
                <a:ea typeface="Calibri" pitchFamily="34" charset="-122"/>
                <a:cs typeface="Calibri" pitchFamily="34" charset="-120"/>
              </a:rPr>
              <a:t>Reload and watch</a:t>
            </a:r>
            <a:endParaRPr lang="en-US" sz="1600" dirty="0"/>
          </a:p>
        </p:txBody>
      </p:sp>
      <p:sp>
        <p:nvSpPr>
          <p:cNvPr id="12" name="Text 10"/>
          <p:cNvSpPr/>
          <p:nvPr/>
        </p:nvSpPr>
        <p:spPr>
          <a:xfrm>
            <a:off x="1371600" y="4443984"/>
            <a:ext cx="5029200" cy="54864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Refresh the page. Every row is one request: HTML, CSS, JS, images. Note the status codes.</a:t>
            </a:r>
            <a:endParaRPr lang="en-US" sz="1250" dirty="0"/>
          </a:p>
        </p:txBody>
      </p:sp>
      <p:sp>
        <p:nvSpPr>
          <p:cNvPr id="13" name="Shape 11"/>
          <p:cNvSpPr/>
          <p:nvPr/>
        </p:nvSpPr>
        <p:spPr>
          <a:xfrm>
            <a:off x="640080" y="5074920"/>
            <a:ext cx="548640" cy="548640"/>
          </a:xfrm>
          <a:prstGeom prst="ellipse">
            <a:avLst/>
          </a:prstGeom>
          <a:solidFill>
            <a:srgbClr val="5C1620"/>
          </a:solidFill>
          <a:ln/>
        </p:spPr>
      </p:sp>
      <p:sp>
        <p:nvSpPr>
          <p:cNvPr id="14" name="Text 12"/>
          <p:cNvSpPr/>
          <p:nvPr/>
        </p:nvSpPr>
        <p:spPr>
          <a:xfrm>
            <a:off x="640080" y="50749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5" name="Text 13"/>
          <p:cNvSpPr/>
          <p:nvPr/>
        </p:nvSpPr>
        <p:spPr>
          <a:xfrm>
            <a:off x="1371600" y="5038344"/>
            <a:ext cx="5029200" cy="365760"/>
          </a:xfrm>
          <a:prstGeom prst="rect">
            <a:avLst/>
          </a:prstGeom>
          <a:noFill/>
          <a:ln/>
        </p:spPr>
        <p:txBody>
          <a:bodyPr wrap="square" lIns="0" tIns="0" rIns="0" bIns="0" rtlCol="0" anchor="ctr"/>
          <a:lstStyle/>
          <a:p>
            <a:pPr indent="0" marL="0">
              <a:buNone/>
            </a:pPr>
            <a:r>
              <a:rPr lang="en-US" sz="1600" b="1" dirty="0">
                <a:solidFill>
                  <a:srgbClr val="5C1620"/>
                </a:solidFill>
                <a:latin typeface="Calibri" pitchFamily="34" charset="0"/>
                <a:ea typeface="Calibri" pitchFamily="34" charset="-122"/>
                <a:cs typeface="Calibri" pitchFamily="34" charset="-120"/>
              </a:rPr>
              <a:t>Find one of each</a:t>
            </a:r>
            <a:endParaRPr lang="en-US" sz="1600" dirty="0"/>
          </a:p>
        </p:txBody>
      </p:sp>
      <p:sp>
        <p:nvSpPr>
          <p:cNvPr id="16" name="Text 14"/>
          <p:cNvSpPr/>
          <p:nvPr/>
        </p:nvSpPr>
        <p:spPr>
          <a:xfrm>
            <a:off x="1371600" y="5404104"/>
            <a:ext cx="5029200" cy="548640"/>
          </a:xfrm>
          <a:prstGeom prst="rect">
            <a:avLst/>
          </a:prstGeom>
          <a:noFill/>
          <a:ln/>
        </p:spPr>
        <p:txBody>
          <a:bodyPr wrap="square" lIns="0" tIns="0" rIns="0" bIns="0" rtlCol="0" anchor="t"/>
          <a:lstStyle/>
          <a:p>
            <a:pPr indent="0" marL="0">
              <a:buNone/>
            </a:pPr>
            <a:r>
              <a:rPr lang="en-US" sz="1250" dirty="0">
                <a:solidFill>
                  <a:srgbClr val="6E6463"/>
                </a:solidFill>
                <a:latin typeface="Calibri" pitchFamily="34" charset="0"/>
                <a:ea typeface="Calibri" pitchFamily="34" charset="-122"/>
                <a:cs typeface="Calibri" pitchFamily="34" charset="-120"/>
              </a:rPr>
              <a:t>Spot a 200, click a request, and read its headers. Find the document, a stylesheet, a script.</a:t>
            </a:r>
            <a:endParaRPr lang="en-US" sz="1250" dirty="0"/>
          </a:p>
        </p:txBody>
      </p:sp>
      <p:sp>
        <p:nvSpPr>
          <p:cNvPr id="17" name="Shape 15"/>
          <p:cNvSpPr/>
          <p:nvPr/>
        </p:nvSpPr>
        <p:spPr>
          <a:xfrm>
            <a:off x="6949440" y="1783080"/>
            <a:ext cx="4617720" cy="4251960"/>
          </a:xfrm>
          <a:prstGeom prst="roundRect">
            <a:avLst>
              <a:gd name="adj" fmla="val 1720"/>
            </a:avLst>
          </a:prstGeom>
          <a:solidFill>
            <a:srgbClr val="5C1620"/>
          </a:solidFill>
          <a:ln/>
          <a:effectLst>
            <a:outerShdw sx="100000" sy="100000" kx="0" ky="0" algn="bl" rotWithShape="0" blurRad="88900" dist="38100" dir="5400000">
              <a:srgbClr val="000000">
                <a:alpha val="18000"/>
              </a:srgbClr>
            </a:outerShdw>
          </a:effectLst>
        </p:spPr>
      </p:sp>
      <p:sp>
        <p:nvSpPr>
          <p:cNvPr id="18" name="Shape 16"/>
          <p:cNvSpPr/>
          <p:nvPr/>
        </p:nvSpPr>
        <p:spPr>
          <a:xfrm>
            <a:off x="8732520" y="2148840"/>
            <a:ext cx="1051560" cy="1051560"/>
          </a:xfrm>
          <a:prstGeom prst="ellipse">
            <a:avLst/>
          </a:prstGeom>
          <a:solidFill>
            <a:srgbClr val="E0A93B"/>
          </a:solidFill>
          <a:ln/>
        </p:spPr>
      </p:sp>
      <p:pic>
        <p:nvPicPr>
          <p:cNvPr id="19" name="Image 0" descr="images/icon_tachometer_m.png">    </p:cNvPr>
          <p:cNvPicPr>
            <a:picLocks noChangeAspect="1"/>
          </p:cNvPicPr>
          <p:nvPr/>
        </p:nvPicPr>
        <p:blipFill>
          <a:blip r:embed="rId1"/>
          <a:stretch>
            <a:fillRect/>
          </a:stretch>
        </p:blipFill>
        <p:spPr>
          <a:xfrm>
            <a:off x="8979408" y="2395728"/>
            <a:ext cx="557784" cy="557784"/>
          </a:xfrm>
          <a:prstGeom prst="rect">
            <a:avLst/>
          </a:prstGeom>
        </p:spPr>
      </p:pic>
      <p:sp>
        <p:nvSpPr>
          <p:cNvPr id="20" name="Text 17"/>
          <p:cNvSpPr/>
          <p:nvPr/>
        </p:nvSpPr>
        <p:spPr>
          <a:xfrm>
            <a:off x="7223760" y="3383280"/>
            <a:ext cx="40233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One shortcut to remember</a:t>
            </a:r>
            <a:endParaRPr lang="en-US" sz="1600" dirty="0"/>
          </a:p>
        </p:txBody>
      </p:sp>
      <p:sp>
        <p:nvSpPr>
          <p:cNvPr id="21" name="Shape 18"/>
          <p:cNvSpPr/>
          <p:nvPr/>
        </p:nvSpPr>
        <p:spPr>
          <a:xfrm>
            <a:off x="7269480" y="3886200"/>
            <a:ext cx="3977640" cy="685800"/>
          </a:xfrm>
          <a:prstGeom prst="roundRect">
            <a:avLst>
              <a:gd name="adj" fmla="val 13333"/>
            </a:avLst>
          </a:prstGeom>
          <a:solidFill>
            <a:srgbClr val="2B2424"/>
          </a:solidFill>
          <a:ln/>
        </p:spPr>
      </p:sp>
      <p:sp>
        <p:nvSpPr>
          <p:cNvPr id="22" name="Text 19"/>
          <p:cNvSpPr/>
          <p:nvPr/>
        </p:nvSpPr>
        <p:spPr>
          <a:xfrm>
            <a:off x="7269480" y="3886200"/>
            <a:ext cx="3977640" cy="685800"/>
          </a:xfrm>
          <a:prstGeom prst="rect">
            <a:avLst/>
          </a:prstGeom>
          <a:noFill/>
          <a:ln/>
        </p:spPr>
        <p:txBody>
          <a:bodyPr wrap="square" lIns="0" tIns="0" rIns="0" bIns="0" rtlCol="0" anchor="ctr"/>
          <a:lstStyle/>
          <a:p>
            <a:pPr algn="ctr" indent="0" marL="0">
              <a:buNone/>
            </a:pPr>
            <a:r>
              <a:rPr lang="en-US" sz="1700" b="1" dirty="0">
                <a:solidFill>
                  <a:srgbClr val="9FE0A8"/>
                </a:solidFill>
                <a:latin typeface="Courier New" pitchFamily="34" charset="0"/>
                <a:ea typeface="Courier New" pitchFamily="34" charset="-122"/>
                <a:cs typeface="Courier New" pitchFamily="34" charset="-120"/>
              </a:rPr>
              <a:t>F12  →  Network tab</a:t>
            </a:r>
            <a:endParaRPr lang="en-US" sz="1700" dirty="0"/>
          </a:p>
        </p:txBody>
      </p:sp>
      <p:sp>
        <p:nvSpPr>
          <p:cNvPr id="23" name="Text 20"/>
          <p:cNvSpPr/>
          <p:nvPr/>
        </p:nvSpPr>
        <p:spPr>
          <a:xfrm>
            <a:off x="7223760" y="4754880"/>
            <a:ext cx="4069080" cy="822960"/>
          </a:xfrm>
          <a:prstGeom prst="rect">
            <a:avLst/>
          </a:prstGeom>
          <a:noFill/>
          <a:ln/>
        </p:spPr>
        <p:txBody>
          <a:bodyPr wrap="square" lIns="0" tIns="0" rIns="0" bIns="0" rtlCol="0" anchor="t"/>
          <a:lstStyle/>
          <a:p>
            <a:pPr algn="ctr" indent="0" marL="0">
              <a:buNone/>
            </a:pPr>
            <a:r>
              <a:rPr lang="en-US" sz="1300" i="1" dirty="0">
                <a:solidFill>
                  <a:srgbClr val="F0DCD0"/>
                </a:solidFill>
                <a:latin typeface="Calibri" pitchFamily="34" charset="0"/>
                <a:ea typeface="Calibri" pitchFamily="34" charset="-122"/>
                <a:cs typeface="Calibri" pitchFamily="34" charset="-120"/>
              </a:rPr>
              <a:t>Tomorrow we start writing the HTML that these requests deliver.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C1620"/>
        </a:solidFill>
      </p:bgPr>
    </p:bg>
    <p:spTree>
      <p:nvGrpSpPr>
        <p:cNvPr id="1" name=""/>
        <p:cNvGrpSpPr/>
        <p:nvPr/>
      </p:nvGrpSpPr>
      <p:grpSpPr>
        <a:xfrm>
          <a:off x="0" y="0"/>
          <a:ext cx="0" cy="0"/>
          <a:chOff x="0" y="0"/>
          <a:chExt cx="0" cy="0"/>
        </a:xfrm>
      </p:grpSpPr>
      <p:sp>
        <p:nvSpPr>
          <p:cNvPr id="2" name="Shape 0"/>
          <p:cNvSpPr/>
          <p:nvPr/>
        </p:nvSpPr>
        <p:spPr>
          <a:xfrm>
            <a:off x="9509760" y="-1188720"/>
            <a:ext cx="3474720" cy="3474720"/>
          </a:xfrm>
          <a:prstGeom prst="ellipse">
            <a:avLst/>
          </a:prstGeom>
          <a:solidFill>
            <a:srgbClr val="7A1F2B"/>
          </a:solidFill>
          <a:ln/>
        </p:spPr>
      </p:sp>
      <p:sp>
        <p:nvSpPr>
          <p:cNvPr id="3" name="Shape 1"/>
          <p:cNvSpPr/>
          <p:nvPr/>
        </p:nvSpPr>
        <p:spPr>
          <a:xfrm>
            <a:off x="-914400" y="4754880"/>
            <a:ext cx="2743200" cy="2743200"/>
          </a:xfrm>
          <a:prstGeom prst="ellipse">
            <a:avLst/>
          </a:prstGeom>
          <a:solidFill>
            <a:srgbClr val="7A1F2B"/>
          </a:solidFill>
          <a:ln/>
        </p:spPr>
      </p:sp>
      <p:sp>
        <p:nvSpPr>
          <p:cNvPr id="4" name="Text 2"/>
          <p:cNvSpPr/>
          <p:nvPr/>
        </p:nvSpPr>
        <p:spPr>
          <a:xfrm>
            <a:off x="731520" y="1645920"/>
            <a:ext cx="9144000" cy="365760"/>
          </a:xfrm>
          <a:prstGeom prst="rect">
            <a:avLst/>
          </a:prstGeom>
          <a:noFill/>
          <a:ln/>
        </p:spPr>
        <p:txBody>
          <a:bodyPr wrap="square" lIns="0" tIns="0" rIns="0" bIns="0" rtlCol="0" anchor="ctr"/>
          <a:lstStyle/>
          <a:p>
            <a:pPr indent="0" marL="0">
              <a:buNone/>
            </a:pPr>
            <a:r>
              <a:rPr lang="en-US" sz="1500" b="1" spc="300" kern="0" dirty="0">
                <a:solidFill>
                  <a:srgbClr val="E0A93B"/>
                </a:solidFill>
                <a:latin typeface="Calibri" pitchFamily="34" charset="0"/>
                <a:ea typeface="Calibri" pitchFamily="34" charset="-122"/>
                <a:cs typeface="Calibri" pitchFamily="34" charset="-120"/>
              </a:rPr>
              <a:t>DAY 2 DONE</a:t>
            </a:r>
            <a:endParaRPr lang="en-US" sz="1500" dirty="0"/>
          </a:p>
        </p:txBody>
      </p:sp>
      <p:sp>
        <p:nvSpPr>
          <p:cNvPr id="5" name="Text 3"/>
          <p:cNvSpPr/>
          <p:nvPr/>
        </p:nvSpPr>
        <p:spPr>
          <a:xfrm>
            <a:off x="713232" y="210312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“Instant” was never instant.</a:t>
            </a:r>
            <a:endParaRPr lang="en-US" sz="4400" dirty="0"/>
          </a:p>
        </p:txBody>
      </p:sp>
      <p:sp>
        <p:nvSpPr>
          <p:cNvPr id="6" name="Text 4"/>
          <p:cNvSpPr/>
          <p:nvPr/>
        </p:nvSpPr>
        <p:spPr>
          <a:xfrm>
            <a:off x="731520" y="3200400"/>
            <a:ext cx="9144000" cy="1280160"/>
          </a:xfrm>
          <a:prstGeom prst="rect">
            <a:avLst/>
          </a:prstGeom>
          <a:noFill/>
          <a:ln/>
        </p:spPr>
        <p:txBody>
          <a:bodyPr wrap="square" lIns="0" tIns="0" rIns="0" bIns="0" rtlCol="0" anchor="ctr"/>
          <a:lstStyle/>
          <a:p>
            <a:pPr indent="0" marL="0">
              <a:lnSpc>
                <a:spcPct val="120000"/>
              </a:lnSpc>
              <a:buNone/>
            </a:pPr>
            <a:r>
              <a:rPr lang="en-US" sz="1800" i="1" dirty="0">
                <a:solidFill>
                  <a:srgbClr val="F0DCD0"/>
                </a:solidFill>
                <a:latin typeface="Calibri" pitchFamily="34" charset="0"/>
                <a:ea typeface="Calibri" pitchFamily="34" charset="-122"/>
                <a:cs typeface="Calibri" pitchFamily="34" charset="-120"/>
              </a:rPr>
              <a:t>Now you know the five stages behind every page load. Once you can see the machinery, you can debug it, speed it up, and build it. That's the difference between a user and an engineer.</a:t>
            </a:r>
            <a:endParaRPr lang="en-US" sz="1800" dirty="0"/>
          </a:p>
        </p:txBody>
      </p:sp>
      <p:sp>
        <p:nvSpPr>
          <p:cNvPr id="7" name="Shape 5"/>
          <p:cNvSpPr/>
          <p:nvPr/>
        </p:nvSpPr>
        <p:spPr>
          <a:xfrm>
            <a:off x="777240" y="5029200"/>
            <a:ext cx="640080" cy="640080"/>
          </a:xfrm>
          <a:prstGeom prst="ellipse">
            <a:avLst/>
          </a:prstGeom>
          <a:solidFill>
            <a:srgbClr val="E0A93B"/>
          </a:solidFill>
          <a:ln/>
        </p:spPr>
      </p:sp>
      <p:pic>
        <p:nvPicPr>
          <p:cNvPr id="8" name="Image 0" descr="images/icon_paint_m.png">    </p:cNvPr>
          <p:cNvPicPr>
            <a:picLocks noChangeAspect="1"/>
          </p:cNvPicPr>
          <p:nvPr/>
        </p:nvPicPr>
        <p:blipFill>
          <a:blip r:embed="rId1"/>
          <a:stretch>
            <a:fillRect/>
          </a:stretch>
        </p:blipFill>
        <p:spPr>
          <a:xfrm>
            <a:off x="914400" y="5166360"/>
            <a:ext cx="365760" cy="365760"/>
          </a:xfrm>
          <a:prstGeom prst="rect">
            <a:avLst/>
          </a:prstGeom>
        </p:spPr>
      </p:pic>
      <p:sp>
        <p:nvSpPr>
          <p:cNvPr id="9" name="Text 6"/>
          <p:cNvSpPr/>
          <p:nvPr/>
        </p:nvSpPr>
        <p:spPr>
          <a:xfrm>
            <a:off x="1554480" y="5029200"/>
            <a:ext cx="91440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Tomorrow: we write the HTML that travels through all of it.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How a Website Actually Loads</dc:title>
  <dc:subject>PptxGenJS Presentation</dc:subject>
  <dc:creator>Dinesh Rawat</dc:creator>
  <cp:lastModifiedBy>Dinesh Rawat</cp:lastModifiedBy>
  <cp:revision>1</cp:revision>
  <dcterms:created xsi:type="dcterms:W3CDTF">2026-06-22T01:25:14Z</dcterms:created>
  <dcterms:modified xsi:type="dcterms:W3CDTF">2026-06-22T01:25:14Z</dcterms:modified>
</cp:coreProperties>
</file>